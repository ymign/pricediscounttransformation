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7" r:id="rId3"/>
    <p:sldId id="490" r:id="rId5"/>
    <p:sldId id="482" r:id="rId6"/>
    <p:sldId id="492" r:id="rId7"/>
    <p:sldId id="489" r:id="rId8"/>
    <p:sldId id="493" r:id="rId9"/>
    <p:sldId id="494" r:id="rId10"/>
    <p:sldId id="495" r:id="rId11"/>
    <p:sldId id="496" r:id="rId12"/>
    <p:sldId id="497" r:id="rId13"/>
    <p:sldId id="498" r:id="rId14"/>
    <p:sldId id="281" r:id="rId15"/>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8A434B"/>
    <a:srgbClr val="8A3B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716"/>
  </p:normalViewPr>
  <p:slideViewPr>
    <p:cSldViewPr snapToGrid="0" snapToObjects="1">
      <p:cViewPr varScale="1">
        <p:scale>
          <a:sx n="87" d="100"/>
          <a:sy n="87" d="100"/>
        </p:scale>
        <p:origin x="35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2.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3"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814"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F36855-99CB-4C46-AC6E-8453BA7D5F0C}" type="datetimeFigureOut">
              <a:rPr lang="en-US" smtClean="0"/>
            </a:fld>
            <a:endParaRPr lang="en-US"/>
          </a:p>
        </p:txBody>
      </p:sp>
      <p:sp>
        <p:nvSpPr>
          <p:cNvPr id="1048815"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816"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817"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818"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7680F1-ED71-7042-96F6-19CF2FB528D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幻灯片图像占位符 1"/>
          <p:cNvSpPr>
            <a:spLocks noGrp="1" noRot="1" noChangeAspect="1"/>
          </p:cNvSpPr>
          <p:nvPr>
            <p:ph type="sldImg"/>
          </p:nvPr>
        </p:nvSpPr>
        <p:spPr/>
      </p:sp>
      <p:sp>
        <p:nvSpPr>
          <p:cNvPr id="1048594" name="备注占位符 2"/>
          <p:cNvSpPr>
            <a:spLocks noGrp="1"/>
          </p:cNvSpPr>
          <p:nvPr>
            <p:ph type="body" idx="1"/>
          </p:nvPr>
        </p:nvSpPr>
        <p:spPr/>
        <p:txBody>
          <a:bodyPr/>
          <a:lstStyle/>
          <a:p>
            <a:endParaRPr lang="zh-CN" altLang="en-US" dirty="0"/>
          </a:p>
        </p:txBody>
      </p:sp>
      <p:sp>
        <p:nvSpPr>
          <p:cNvPr id="1048595" name="灯片编号占位符 3"/>
          <p:cNvSpPr>
            <a:spLocks noGrp="1"/>
          </p:cNvSpPr>
          <p:nvPr>
            <p:ph type="sldNum" sz="quarter" idx="10"/>
          </p:nvPr>
        </p:nvSpPr>
        <p:spPr/>
        <p:txBody>
          <a:bodyPr/>
          <a:lstStyle/>
          <a:p>
            <a:fld id="{95D8E3BA-98BF-4A0E-999E-D954996C28F4}" type="slidenum">
              <a:rPr lang="zh-CN" altLang="en-US" smtClean="0">
                <a:solidFill>
                  <a:prstClr val="black"/>
                </a:solidFill>
                <a:latin typeface="Calibri" panose="020F0502020204030204"/>
                <a:ea typeface="宋体" panose="02010600030101010101" pitchFamily="2" charset="-122"/>
              </a:rPr>
            </a:fld>
            <a:endParaRPr lang="zh-CN" altLang="en-US">
              <a:solidFill>
                <a:prstClr val="black"/>
              </a:solidFill>
              <a:latin typeface="Calibri" panose="020F0502020204030204"/>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Slide Image Placeholder 1"/>
          <p:cNvSpPr>
            <a:spLocks noGrp="1" noRot="1" noChangeAspect="1"/>
          </p:cNvSpPr>
          <p:nvPr>
            <p:ph type="sldImg" idx="2"/>
          </p:nvPr>
        </p:nvSpPr>
        <p:spPr/>
      </p:sp>
      <p:sp>
        <p:nvSpPr>
          <p:cNvPr id="1048660"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Slide Image Placeholder 1"/>
          <p:cNvSpPr>
            <a:spLocks noGrp="1" noRot="1" noChangeAspect="1"/>
          </p:cNvSpPr>
          <p:nvPr>
            <p:ph type="sldImg" idx="2"/>
          </p:nvPr>
        </p:nvSpPr>
        <p:spPr/>
      </p:sp>
      <p:sp>
        <p:nvSpPr>
          <p:cNvPr id="1048660"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Slide Image Placeholder 1"/>
          <p:cNvSpPr>
            <a:spLocks noGrp="1" noRot="1" noChangeAspect="1"/>
          </p:cNvSpPr>
          <p:nvPr>
            <p:ph type="sldImg" idx="2"/>
          </p:nvPr>
        </p:nvSpPr>
        <p:spPr/>
      </p:sp>
      <p:sp>
        <p:nvSpPr>
          <p:cNvPr id="1048660" name="Text Placeholder 2"/>
          <p:cNvSpPr>
            <a:spLocks noGrp="1"/>
          </p:cNvSpPr>
          <p:nvPr>
            <p:ph type="body" idx="3"/>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Slide Image Placeholder 1"/>
          <p:cNvSpPr>
            <a:spLocks noGrp="1" noRot="1" noChangeAspect="1"/>
          </p:cNvSpPr>
          <p:nvPr>
            <p:ph type="sldImg" idx="2"/>
          </p:nvPr>
        </p:nvSpPr>
        <p:spPr/>
      </p:sp>
      <p:sp>
        <p:nvSpPr>
          <p:cNvPr id="1048660" name="Text Placeholder 2"/>
          <p:cNvSpPr>
            <a:spLocks noGrp="1"/>
          </p:cNvSpPr>
          <p:nvPr>
            <p:ph type="body" idx="3"/>
          </p:nvPr>
        </p:nvSpPr>
        <p:spPr/>
        <p:txBody>
          <a:bodyPr/>
          <a:lstStyle/>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Slide Image Placeholder 1"/>
          <p:cNvSpPr>
            <a:spLocks noGrp="1" noRot="1" noChangeAspect="1"/>
          </p:cNvSpPr>
          <p:nvPr>
            <p:ph type="sldImg" idx="2"/>
          </p:nvPr>
        </p:nvSpPr>
        <p:spPr/>
      </p:sp>
      <p:sp>
        <p:nvSpPr>
          <p:cNvPr id="1048660" name="Text Placeholder 2"/>
          <p:cNvSpPr>
            <a:spLocks noGrp="1"/>
          </p:cNvSpPr>
          <p:nvPr>
            <p:ph type="body" idx="3"/>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Slide Image Placeholder 1"/>
          <p:cNvSpPr>
            <a:spLocks noGrp="1" noRot="1" noChangeAspect="1"/>
          </p:cNvSpPr>
          <p:nvPr>
            <p:ph type="sldImg" idx="2"/>
          </p:nvPr>
        </p:nvSpPr>
        <p:spPr/>
      </p:sp>
      <p:sp>
        <p:nvSpPr>
          <p:cNvPr id="1048660" name="Text Placeholder 2"/>
          <p:cNvSpPr>
            <a:spLocks noGrp="1"/>
          </p:cNvSpPr>
          <p:nvPr>
            <p:ph type="body" idx="3"/>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Slide Image Placeholder 1"/>
          <p:cNvSpPr>
            <a:spLocks noGrp="1" noRot="1" noChangeAspect="1"/>
          </p:cNvSpPr>
          <p:nvPr>
            <p:ph type="sldImg" idx="2"/>
          </p:nvPr>
        </p:nvSpPr>
        <p:spPr/>
      </p:sp>
      <p:sp>
        <p:nvSpPr>
          <p:cNvPr id="1048660" name="Text Placeholder 2"/>
          <p:cNvSpPr>
            <a:spLocks noGrp="1"/>
          </p:cNvSpPr>
          <p:nvPr>
            <p:ph type="body" idx="3"/>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Slide Image Placeholder 1"/>
          <p:cNvSpPr>
            <a:spLocks noGrp="1" noRot="1" noChangeAspect="1"/>
          </p:cNvSpPr>
          <p:nvPr>
            <p:ph type="sldImg" idx="2"/>
          </p:nvPr>
        </p:nvSpPr>
        <p:spPr/>
      </p:sp>
      <p:sp>
        <p:nvSpPr>
          <p:cNvPr id="1048660" name="Text Placeholder 2"/>
          <p:cNvSpPr>
            <a:spLocks noGrp="1"/>
          </p:cNvSpPr>
          <p:nvPr>
            <p:ph type="body" idx="3"/>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Slide Image Placeholder 1"/>
          <p:cNvSpPr>
            <a:spLocks noGrp="1" noRot="1" noChangeAspect="1"/>
          </p:cNvSpPr>
          <p:nvPr>
            <p:ph type="sldImg" idx="2"/>
          </p:nvPr>
        </p:nvSpPr>
        <p:spPr/>
      </p:sp>
      <p:sp>
        <p:nvSpPr>
          <p:cNvPr id="1048660" name="Text Placeholder 2"/>
          <p:cNvSpPr>
            <a:spLocks noGrp="1"/>
          </p:cNvSpPr>
          <p:nvPr>
            <p:ph type="body" idx="3"/>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Slide Image Placeholder 1"/>
          <p:cNvSpPr>
            <a:spLocks noGrp="1" noRot="1" noChangeAspect="1"/>
          </p:cNvSpPr>
          <p:nvPr>
            <p:ph type="sldImg" idx="2"/>
          </p:nvPr>
        </p:nvSpPr>
        <p:spPr/>
      </p:sp>
      <p:sp>
        <p:nvSpPr>
          <p:cNvPr id="1048660"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581"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CN" altLang="en-US"/>
          </a:p>
        </p:txBody>
      </p:sp>
      <p:sp>
        <p:nvSpPr>
          <p:cNvPr id="1048582"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1048583" name="日期占位符 3"/>
          <p:cNvSpPr>
            <a:spLocks noGrp="1"/>
          </p:cNvSpPr>
          <p:nvPr>
            <p:ph type="dt" sz="half" idx="10"/>
          </p:nvPr>
        </p:nvSpPr>
        <p:spPr/>
        <p:txBody>
          <a:bodyPr/>
          <a:lstStyle/>
          <a:p>
            <a:fld id="{81698BA8-BBEC-764F-8460-D4D85E6A64CA}" type="datetimeFigureOut">
              <a:rPr kumimoji="1" lang="zh-CN" altLang="en-US" smtClean="0"/>
            </a:fld>
            <a:endParaRPr kumimoji="1" lang="zh-CN" altLang="en-US"/>
          </a:p>
        </p:txBody>
      </p:sp>
      <p:sp>
        <p:nvSpPr>
          <p:cNvPr id="1048584" name="页脚占位符 4"/>
          <p:cNvSpPr>
            <a:spLocks noGrp="1"/>
          </p:cNvSpPr>
          <p:nvPr>
            <p:ph type="ftr" sz="quarter" idx="11"/>
          </p:nvPr>
        </p:nvSpPr>
        <p:spPr/>
        <p:txBody>
          <a:bodyPr/>
          <a:lstStyle/>
          <a:p>
            <a:endParaRPr kumimoji="1" lang="zh-CN" altLang="en-US"/>
          </a:p>
        </p:txBody>
      </p:sp>
      <p:sp>
        <p:nvSpPr>
          <p:cNvPr id="1048585" name="灯片编号占位符 5"/>
          <p:cNvSpPr>
            <a:spLocks noGrp="1"/>
          </p:cNvSpPr>
          <p:nvPr>
            <p:ph type="sldNum" sz="quarter" idx="12"/>
          </p:nvPr>
        </p:nvSpPr>
        <p:spPr/>
        <p:txBody>
          <a:bodyPr/>
          <a:lstStyle/>
          <a:p>
            <a:fld id="{4EA164F2-0A52-EE41-983A-32263E83BF25}"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651" name="标题 1"/>
          <p:cNvSpPr>
            <a:spLocks noGrp="1"/>
          </p:cNvSpPr>
          <p:nvPr>
            <p:ph type="title"/>
          </p:nvPr>
        </p:nvSpPr>
        <p:spPr/>
        <p:txBody>
          <a:bodyPr/>
          <a:lstStyle/>
          <a:p>
            <a:r>
              <a:rPr kumimoji="1" lang="zh-CN" altLang="en-US"/>
              <a:t>单击此处编辑母版标题样式</a:t>
            </a:r>
            <a:endParaRPr kumimoji="1" lang="zh-CN" altLang="en-US"/>
          </a:p>
        </p:txBody>
      </p:sp>
      <p:sp>
        <p:nvSpPr>
          <p:cNvPr id="1048652"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1048653" name="日期占位符 3"/>
          <p:cNvSpPr>
            <a:spLocks noGrp="1"/>
          </p:cNvSpPr>
          <p:nvPr>
            <p:ph type="dt" sz="half" idx="10"/>
          </p:nvPr>
        </p:nvSpPr>
        <p:spPr/>
        <p:txBody>
          <a:bodyPr/>
          <a:lstStyle/>
          <a:p>
            <a:fld id="{81698BA8-BBEC-764F-8460-D4D85E6A64CA}" type="datetimeFigureOut">
              <a:rPr kumimoji="1" lang="zh-CN" altLang="en-US" smtClean="0"/>
            </a:fld>
            <a:endParaRPr kumimoji="1" lang="zh-CN" altLang="en-US"/>
          </a:p>
        </p:txBody>
      </p:sp>
      <p:sp>
        <p:nvSpPr>
          <p:cNvPr id="1048654" name="页脚占位符 4"/>
          <p:cNvSpPr>
            <a:spLocks noGrp="1"/>
          </p:cNvSpPr>
          <p:nvPr>
            <p:ph type="ftr" sz="quarter" idx="11"/>
          </p:nvPr>
        </p:nvSpPr>
        <p:spPr/>
        <p:txBody>
          <a:bodyPr/>
          <a:lstStyle/>
          <a:p>
            <a:endParaRPr kumimoji="1" lang="zh-CN" altLang="en-US"/>
          </a:p>
        </p:txBody>
      </p:sp>
      <p:sp>
        <p:nvSpPr>
          <p:cNvPr id="1048655" name="灯片编号占位符 5"/>
          <p:cNvSpPr>
            <a:spLocks noGrp="1"/>
          </p:cNvSpPr>
          <p:nvPr>
            <p:ph type="sldNum" sz="quarter" idx="12"/>
          </p:nvPr>
        </p:nvSpPr>
        <p:spPr/>
        <p:txBody>
          <a:bodyPr/>
          <a:lstStyle/>
          <a:p>
            <a:fld id="{4EA164F2-0A52-EE41-983A-32263E83BF25}"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785"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1048786"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1048787" name="日期占位符 3"/>
          <p:cNvSpPr>
            <a:spLocks noGrp="1"/>
          </p:cNvSpPr>
          <p:nvPr>
            <p:ph type="dt" sz="half" idx="10"/>
          </p:nvPr>
        </p:nvSpPr>
        <p:spPr/>
        <p:txBody>
          <a:bodyPr/>
          <a:lstStyle/>
          <a:p>
            <a:fld id="{81698BA8-BBEC-764F-8460-D4D85E6A64CA}" type="datetimeFigureOut">
              <a:rPr kumimoji="1" lang="zh-CN" altLang="en-US" smtClean="0"/>
            </a:fld>
            <a:endParaRPr kumimoji="1" lang="zh-CN" altLang="en-US"/>
          </a:p>
        </p:txBody>
      </p:sp>
      <p:sp>
        <p:nvSpPr>
          <p:cNvPr id="1048788" name="页脚占位符 4"/>
          <p:cNvSpPr>
            <a:spLocks noGrp="1"/>
          </p:cNvSpPr>
          <p:nvPr>
            <p:ph type="ftr" sz="quarter" idx="11"/>
          </p:nvPr>
        </p:nvSpPr>
        <p:spPr/>
        <p:txBody>
          <a:bodyPr/>
          <a:lstStyle/>
          <a:p>
            <a:endParaRPr kumimoji="1" lang="zh-CN" altLang="en-US"/>
          </a:p>
        </p:txBody>
      </p:sp>
      <p:sp>
        <p:nvSpPr>
          <p:cNvPr id="1048789" name="灯片编号占位符 5"/>
          <p:cNvSpPr>
            <a:spLocks noGrp="1"/>
          </p:cNvSpPr>
          <p:nvPr>
            <p:ph type="sldNum" sz="quarter" idx="12"/>
          </p:nvPr>
        </p:nvSpPr>
        <p:spPr/>
        <p:txBody>
          <a:bodyPr/>
          <a:lstStyle/>
          <a:p>
            <a:fld id="{4EA164F2-0A52-EE41-983A-32263E83BF25}"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790" name="标题 1"/>
          <p:cNvSpPr>
            <a:spLocks noGrp="1"/>
          </p:cNvSpPr>
          <p:nvPr>
            <p:ph type="title"/>
          </p:nvPr>
        </p:nvSpPr>
        <p:spPr/>
        <p:txBody>
          <a:bodyPr/>
          <a:lstStyle/>
          <a:p>
            <a:r>
              <a:rPr kumimoji="1" lang="zh-CN" altLang="en-US"/>
              <a:t>单击此处编辑母版标题样式</a:t>
            </a:r>
            <a:endParaRPr kumimoji="1" lang="zh-CN" altLang="en-US"/>
          </a:p>
        </p:txBody>
      </p:sp>
      <p:sp>
        <p:nvSpPr>
          <p:cNvPr id="1048791"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1048792"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1048793" name="日期占位符 4"/>
          <p:cNvSpPr>
            <a:spLocks noGrp="1"/>
          </p:cNvSpPr>
          <p:nvPr>
            <p:ph type="dt" sz="half" idx="10"/>
          </p:nvPr>
        </p:nvSpPr>
        <p:spPr/>
        <p:txBody>
          <a:bodyPr/>
          <a:lstStyle/>
          <a:p>
            <a:fld id="{81698BA8-BBEC-764F-8460-D4D85E6A64CA}" type="datetimeFigureOut">
              <a:rPr kumimoji="1" lang="zh-CN" altLang="en-US" smtClean="0"/>
            </a:fld>
            <a:endParaRPr kumimoji="1" lang="zh-CN" altLang="en-US"/>
          </a:p>
        </p:txBody>
      </p:sp>
      <p:sp>
        <p:nvSpPr>
          <p:cNvPr id="1048794" name="页脚占位符 5"/>
          <p:cNvSpPr>
            <a:spLocks noGrp="1"/>
          </p:cNvSpPr>
          <p:nvPr>
            <p:ph type="ftr" sz="quarter" idx="11"/>
          </p:nvPr>
        </p:nvSpPr>
        <p:spPr/>
        <p:txBody>
          <a:bodyPr/>
          <a:lstStyle/>
          <a:p>
            <a:endParaRPr kumimoji="1" lang="zh-CN" altLang="en-US"/>
          </a:p>
        </p:txBody>
      </p:sp>
      <p:sp>
        <p:nvSpPr>
          <p:cNvPr id="1048795" name="灯片编号占位符 6"/>
          <p:cNvSpPr>
            <a:spLocks noGrp="1"/>
          </p:cNvSpPr>
          <p:nvPr>
            <p:ph type="sldNum" sz="quarter" idx="12"/>
          </p:nvPr>
        </p:nvSpPr>
        <p:spPr/>
        <p:txBody>
          <a:bodyPr/>
          <a:lstStyle/>
          <a:p>
            <a:fld id="{4EA164F2-0A52-EE41-983A-32263E83BF25}"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796"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1048797"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1048798"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1048799"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1048800"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1048801" name="日期占位符 6"/>
          <p:cNvSpPr>
            <a:spLocks noGrp="1"/>
          </p:cNvSpPr>
          <p:nvPr>
            <p:ph type="dt" sz="half" idx="10"/>
          </p:nvPr>
        </p:nvSpPr>
        <p:spPr/>
        <p:txBody>
          <a:bodyPr/>
          <a:lstStyle/>
          <a:p>
            <a:fld id="{81698BA8-BBEC-764F-8460-D4D85E6A64CA}" type="datetimeFigureOut">
              <a:rPr kumimoji="1" lang="zh-CN" altLang="en-US" smtClean="0"/>
            </a:fld>
            <a:endParaRPr kumimoji="1" lang="zh-CN" altLang="en-US"/>
          </a:p>
        </p:txBody>
      </p:sp>
      <p:sp>
        <p:nvSpPr>
          <p:cNvPr id="1048802" name="页脚占位符 7"/>
          <p:cNvSpPr>
            <a:spLocks noGrp="1"/>
          </p:cNvSpPr>
          <p:nvPr>
            <p:ph type="ftr" sz="quarter" idx="11"/>
          </p:nvPr>
        </p:nvSpPr>
        <p:spPr/>
        <p:txBody>
          <a:bodyPr/>
          <a:lstStyle/>
          <a:p>
            <a:endParaRPr kumimoji="1" lang="zh-CN" altLang="en-US"/>
          </a:p>
        </p:txBody>
      </p:sp>
      <p:sp>
        <p:nvSpPr>
          <p:cNvPr id="1048803" name="灯片编号占位符 8"/>
          <p:cNvSpPr>
            <a:spLocks noGrp="1"/>
          </p:cNvSpPr>
          <p:nvPr>
            <p:ph type="sldNum" sz="quarter" idx="12"/>
          </p:nvPr>
        </p:nvSpPr>
        <p:spPr/>
        <p:txBody>
          <a:bodyPr/>
          <a:lstStyle/>
          <a:p>
            <a:fld id="{4EA164F2-0A52-EE41-983A-32263E83BF25}"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65" name="标题 1"/>
          <p:cNvSpPr>
            <a:spLocks noGrp="1"/>
          </p:cNvSpPr>
          <p:nvPr>
            <p:ph type="title"/>
          </p:nvPr>
        </p:nvSpPr>
        <p:spPr/>
        <p:txBody>
          <a:bodyPr/>
          <a:lstStyle/>
          <a:p>
            <a:r>
              <a:rPr kumimoji="1" lang="zh-CN" altLang="en-US"/>
              <a:t>单击此处编辑母版标题样式</a:t>
            </a:r>
            <a:endParaRPr kumimoji="1" lang="zh-CN" altLang="en-US"/>
          </a:p>
        </p:txBody>
      </p:sp>
      <p:sp>
        <p:nvSpPr>
          <p:cNvPr id="1048766" name="日期占位符 2"/>
          <p:cNvSpPr>
            <a:spLocks noGrp="1"/>
          </p:cNvSpPr>
          <p:nvPr>
            <p:ph type="dt" sz="half" idx="10"/>
          </p:nvPr>
        </p:nvSpPr>
        <p:spPr/>
        <p:txBody>
          <a:bodyPr/>
          <a:lstStyle/>
          <a:p>
            <a:fld id="{81698BA8-BBEC-764F-8460-D4D85E6A64CA}" type="datetimeFigureOut">
              <a:rPr kumimoji="1" lang="zh-CN" altLang="en-US" smtClean="0"/>
            </a:fld>
            <a:endParaRPr kumimoji="1" lang="zh-CN" altLang="en-US"/>
          </a:p>
        </p:txBody>
      </p:sp>
      <p:sp>
        <p:nvSpPr>
          <p:cNvPr id="1048767" name="页脚占位符 3"/>
          <p:cNvSpPr>
            <a:spLocks noGrp="1"/>
          </p:cNvSpPr>
          <p:nvPr>
            <p:ph type="ftr" sz="quarter" idx="11"/>
          </p:nvPr>
        </p:nvSpPr>
        <p:spPr/>
        <p:txBody>
          <a:bodyPr/>
          <a:lstStyle/>
          <a:p>
            <a:endParaRPr kumimoji="1" lang="zh-CN" altLang="en-US"/>
          </a:p>
        </p:txBody>
      </p:sp>
      <p:sp>
        <p:nvSpPr>
          <p:cNvPr id="1048768" name="灯片编号占位符 4"/>
          <p:cNvSpPr>
            <a:spLocks noGrp="1"/>
          </p:cNvSpPr>
          <p:nvPr>
            <p:ph type="sldNum" sz="quarter" idx="12"/>
          </p:nvPr>
        </p:nvSpPr>
        <p:spPr/>
        <p:txBody>
          <a:bodyPr/>
          <a:lstStyle/>
          <a:p>
            <a:fld id="{4EA164F2-0A52-EE41-983A-32263E83BF25}"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04" name="日期占位符 1"/>
          <p:cNvSpPr>
            <a:spLocks noGrp="1"/>
          </p:cNvSpPr>
          <p:nvPr>
            <p:ph type="dt" sz="half" idx="10"/>
          </p:nvPr>
        </p:nvSpPr>
        <p:spPr/>
        <p:txBody>
          <a:bodyPr/>
          <a:lstStyle/>
          <a:p>
            <a:fld id="{81698BA8-BBEC-764F-8460-D4D85E6A64CA}" type="datetimeFigureOut">
              <a:rPr kumimoji="1" lang="zh-CN" altLang="en-US" smtClean="0"/>
            </a:fld>
            <a:endParaRPr kumimoji="1" lang="zh-CN" altLang="en-US"/>
          </a:p>
        </p:txBody>
      </p:sp>
      <p:sp>
        <p:nvSpPr>
          <p:cNvPr id="1048805" name="页脚占位符 2"/>
          <p:cNvSpPr>
            <a:spLocks noGrp="1"/>
          </p:cNvSpPr>
          <p:nvPr>
            <p:ph type="ftr" sz="quarter" idx="11"/>
          </p:nvPr>
        </p:nvSpPr>
        <p:spPr/>
        <p:txBody>
          <a:bodyPr/>
          <a:lstStyle/>
          <a:p>
            <a:endParaRPr kumimoji="1" lang="zh-CN" altLang="en-US"/>
          </a:p>
        </p:txBody>
      </p:sp>
      <p:sp>
        <p:nvSpPr>
          <p:cNvPr id="1048806" name="灯片编号占位符 3"/>
          <p:cNvSpPr>
            <a:spLocks noGrp="1"/>
          </p:cNvSpPr>
          <p:nvPr>
            <p:ph type="sldNum" sz="quarter" idx="12"/>
          </p:nvPr>
        </p:nvSpPr>
        <p:spPr/>
        <p:txBody>
          <a:bodyPr/>
          <a:lstStyle/>
          <a:p>
            <a:fld id="{4EA164F2-0A52-EE41-983A-32263E83BF25}"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807"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1048808"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1048809"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1048810" name="日期占位符 4"/>
          <p:cNvSpPr>
            <a:spLocks noGrp="1"/>
          </p:cNvSpPr>
          <p:nvPr>
            <p:ph type="dt" sz="half" idx="10"/>
          </p:nvPr>
        </p:nvSpPr>
        <p:spPr/>
        <p:txBody>
          <a:bodyPr/>
          <a:lstStyle/>
          <a:p>
            <a:fld id="{81698BA8-BBEC-764F-8460-D4D85E6A64CA}" type="datetimeFigureOut">
              <a:rPr kumimoji="1" lang="zh-CN" altLang="en-US" smtClean="0"/>
            </a:fld>
            <a:endParaRPr kumimoji="1" lang="zh-CN" altLang="en-US"/>
          </a:p>
        </p:txBody>
      </p:sp>
      <p:sp>
        <p:nvSpPr>
          <p:cNvPr id="1048811" name="页脚占位符 5"/>
          <p:cNvSpPr>
            <a:spLocks noGrp="1"/>
          </p:cNvSpPr>
          <p:nvPr>
            <p:ph type="ftr" sz="quarter" idx="11"/>
          </p:nvPr>
        </p:nvSpPr>
        <p:spPr/>
        <p:txBody>
          <a:bodyPr/>
          <a:lstStyle/>
          <a:p>
            <a:endParaRPr kumimoji="1" lang="zh-CN" altLang="en-US"/>
          </a:p>
        </p:txBody>
      </p:sp>
      <p:sp>
        <p:nvSpPr>
          <p:cNvPr id="1048812" name="灯片编号占位符 6"/>
          <p:cNvSpPr>
            <a:spLocks noGrp="1"/>
          </p:cNvSpPr>
          <p:nvPr>
            <p:ph type="sldNum" sz="quarter" idx="12"/>
          </p:nvPr>
        </p:nvSpPr>
        <p:spPr/>
        <p:txBody>
          <a:bodyPr/>
          <a:lstStyle/>
          <a:p>
            <a:fld id="{4EA164F2-0A52-EE41-983A-32263E83BF25}"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774"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1048775"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1048776"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1048777" name="日期占位符 4"/>
          <p:cNvSpPr>
            <a:spLocks noGrp="1"/>
          </p:cNvSpPr>
          <p:nvPr>
            <p:ph type="dt" sz="half" idx="10"/>
          </p:nvPr>
        </p:nvSpPr>
        <p:spPr/>
        <p:txBody>
          <a:bodyPr/>
          <a:lstStyle/>
          <a:p>
            <a:fld id="{81698BA8-BBEC-764F-8460-D4D85E6A64CA}" type="datetimeFigureOut">
              <a:rPr kumimoji="1" lang="zh-CN" altLang="en-US" smtClean="0"/>
            </a:fld>
            <a:endParaRPr kumimoji="1" lang="zh-CN" altLang="en-US"/>
          </a:p>
        </p:txBody>
      </p:sp>
      <p:sp>
        <p:nvSpPr>
          <p:cNvPr id="1048778" name="页脚占位符 5"/>
          <p:cNvSpPr>
            <a:spLocks noGrp="1"/>
          </p:cNvSpPr>
          <p:nvPr>
            <p:ph type="ftr" sz="quarter" idx="11"/>
          </p:nvPr>
        </p:nvSpPr>
        <p:spPr/>
        <p:txBody>
          <a:bodyPr/>
          <a:lstStyle/>
          <a:p>
            <a:endParaRPr kumimoji="1" lang="zh-CN" altLang="en-US"/>
          </a:p>
        </p:txBody>
      </p:sp>
      <p:sp>
        <p:nvSpPr>
          <p:cNvPr id="1048779" name="灯片编号占位符 6"/>
          <p:cNvSpPr>
            <a:spLocks noGrp="1"/>
          </p:cNvSpPr>
          <p:nvPr>
            <p:ph type="sldNum" sz="quarter" idx="12"/>
          </p:nvPr>
        </p:nvSpPr>
        <p:spPr/>
        <p:txBody>
          <a:bodyPr/>
          <a:lstStyle/>
          <a:p>
            <a:fld id="{4EA164F2-0A52-EE41-983A-32263E83BF25}"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780" name="标题 1"/>
          <p:cNvSpPr>
            <a:spLocks noGrp="1"/>
          </p:cNvSpPr>
          <p:nvPr>
            <p:ph type="title"/>
          </p:nvPr>
        </p:nvSpPr>
        <p:spPr/>
        <p:txBody>
          <a:bodyPr/>
          <a:lstStyle/>
          <a:p>
            <a:r>
              <a:rPr kumimoji="1" lang="zh-CN" altLang="en-US"/>
              <a:t>单击此处编辑母版标题样式</a:t>
            </a:r>
            <a:endParaRPr kumimoji="1" lang="zh-CN" altLang="en-US"/>
          </a:p>
        </p:txBody>
      </p:sp>
      <p:sp>
        <p:nvSpPr>
          <p:cNvPr id="1048781" name="竖排文字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1048782" name="日期占位符 3"/>
          <p:cNvSpPr>
            <a:spLocks noGrp="1"/>
          </p:cNvSpPr>
          <p:nvPr>
            <p:ph type="dt" sz="half" idx="10"/>
          </p:nvPr>
        </p:nvSpPr>
        <p:spPr/>
        <p:txBody>
          <a:bodyPr/>
          <a:lstStyle/>
          <a:p>
            <a:fld id="{81698BA8-BBEC-764F-8460-D4D85E6A64CA}" type="datetimeFigureOut">
              <a:rPr kumimoji="1" lang="zh-CN" altLang="en-US" smtClean="0"/>
            </a:fld>
            <a:endParaRPr kumimoji="1" lang="zh-CN" altLang="en-US"/>
          </a:p>
        </p:txBody>
      </p:sp>
      <p:sp>
        <p:nvSpPr>
          <p:cNvPr id="1048783" name="页脚占位符 4"/>
          <p:cNvSpPr>
            <a:spLocks noGrp="1"/>
          </p:cNvSpPr>
          <p:nvPr>
            <p:ph type="ftr" sz="quarter" idx="11"/>
          </p:nvPr>
        </p:nvSpPr>
        <p:spPr/>
        <p:txBody>
          <a:bodyPr/>
          <a:lstStyle/>
          <a:p>
            <a:endParaRPr kumimoji="1" lang="zh-CN" altLang="en-US"/>
          </a:p>
        </p:txBody>
      </p:sp>
      <p:sp>
        <p:nvSpPr>
          <p:cNvPr id="1048784" name="灯片编号占位符 5"/>
          <p:cNvSpPr>
            <a:spLocks noGrp="1"/>
          </p:cNvSpPr>
          <p:nvPr>
            <p:ph type="sldNum" sz="quarter" idx="12"/>
          </p:nvPr>
        </p:nvSpPr>
        <p:spPr/>
        <p:txBody>
          <a:bodyPr/>
          <a:lstStyle/>
          <a:p>
            <a:fld id="{4EA164F2-0A52-EE41-983A-32263E83BF25}"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769"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1048770"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1048771" name="日期占位符 3"/>
          <p:cNvSpPr>
            <a:spLocks noGrp="1"/>
          </p:cNvSpPr>
          <p:nvPr>
            <p:ph type="dt" sz="half" idx="10"/>
          </p:nvPr>
        </p:nvSpPr>
        <p:spPr/>
        <p:txBody>
          <a:bodyPr/>
          <a:lstStyle/>
          <a:p>
            <a:fld id="{81698BA8-BBEC-764F-8460-D4D85E6A64CA}" type="datetimeFigureOut">
              <a:rPr kumimoji="1" lang="zh-CN" altLang="en-US" smtClean="0"/>
            </a:fld>
            <a:endParaRPr kumimoji="1" lang="zh-CN" altLang="en-US"/>
          </a:p>
        </p:txBody>
      </p:sp>
      <p:sp>
        <p:nvSpPr>
          <p:cNvPr id="1048772" name="页脚占位符 4"/>
          <p:cNvSpPr>
            <a:spLocks noGrp="1"/>
          </p:cNvSpPr>
          <p:nvPr>
            <p:ph type="ftr" sz="quarter" idx="11"/>
          </p:nvPr>
        </p:nvSpPr>
        <p:spPr/>
        <p:txBody>
          <a:bodyPr/>
          <a:lstStyle/>
          <a:p>
            <a:endParaRPr kumimoji="1" lang="zh-CN" altLang="en-US"/>
          </a:p>
        </p:txBody>
      </p:sp>
      <p:sp>
        <p:nvSpPr>
          <p:cNvPr id="1048773" name="灯片编号占位符 5"/>
          <p:cNvSpPr>
            <a:spLocks noGrp="1"/>
          </p:cNvSpPr>
          <p:nvPr>
            <p:ph type="sldNum" sz="quarter" idx="12"/>
          </p:nvPr>
        </p:nvSpPr>
        <p:spPr/>
        <p:txBody>
          <a:bodyPr/>
          <a:lstStyle/>
          <a:p>
            <a:fld id="{4EA164F2-0A52-EE41-983A-32263E83BF25}"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698BA8-BBEC-764F-8460-D4D85E6A64CA}" type="datetimeFigureOut">
              <a:rPr kumimoji="1" lang="zh-CN" altLang="en-US" smtClean="0"/>
            </a:fld>
            <a:endParaRPr kumimoji="1" lang="zh-CN" altLang="en-US"/>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A164F2-0A52-EE41-983A-32263E83BF25}"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图片 11"/>
          <p:cNvPicPr>
            <a:picLocks noChangeAspect="1"/>
          </p:cNvPicPr>
          <p:nvPr/>
        </p:nvPicPr>
        <p:blipFill rotWithShape="1">
          <a:blip r:embed="rId1" cstate="print"/>
          <a:srcRect t="14652" b="710"/>
          <a:stretch>
            <a:fillRect/>
          </a:stretch>
        </p:blipFill>
        <p:spPr>
          <a:xfrm flipH="1">
            <a:off x="-122835" y="-232440"/>
            <a:ext cx="13359163" cy="7539827"/>
          </a:xfrm>
          <a:prstGeom prst="rect">
            <a:avLst/>
          </a:prstGeom>
        </p:spPr>
      </p:pic>
      <p:sp>
        <p:nvSpPr>
          <p:cNvPr id="1048586" name="矩形 10"/>
          <p:cNvSpPr/>
          <p:nvPr/>
        </p:nvSpPr>
        <p:spPr>
          <a:xfrm>
            <a:off x="780416" y="134834"/>
            <a:ext cx="12455912" cy="7173188"/>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4" tIns="45718" rIns="91424" bIns="45718" rtlCol="0" anchor="ctr"/>
          <a:lstStyle/>
          <a:p>
            <a:pPr algn="ctr"/>
            <a:endParaRPr lang="zh-CN" altLang="en-US" dirty="0">
              <a:solidFill>
                <a:prstClr val="white"/>
              </a:solidFill>
            </a:endParaRPr>
          </a:p>
        </p:txBody>
      </p:sp>
      <p:sp>
        <p:nvSpPr>
          <p:cNvPr id="1048587" name="矩形 4"/>
          <p:cNvSpPr/>
          <p:nvPr/>
        </p:nvSpPr>
        <p:spPr>
          <a:xfrm>
            <a:off x="1046172" y="134199"/>
            <a:ext cx="5109091" cy="6858000"/>
          </a:xfrm>
          <a:prstGeom prst="rect">
            <a:avLst/>
          </a:prstGeom>
          <a:solidFill>
            <a:srgbClr val="DF213B">
              <a:alpha val="8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4" tIns="45718" rIns="91424" bIns="45718" rtlCol="0" anchor="ctr"/>
          <a:lstStyle/>
          <a:p>
            <a:pPr algn="ctr"/>
            <a:endParaRPr lang="zh-CN" altLang="en-US" sz="3500" dirty="0">
              <a:solidFill>
                <a:prstClr val="white"/>
              </a:solidFill>
              <a:latin typeface="微软雅黑" panose="020B0503020204020204" pitchFamily="82" charset="2"/>
              <a:ea typeface="微软雅黑" panose="020B0503020204020204" pitchFamily="82" charset="2"/>
            </a:endParaRPr>
          </a:p>
        </p:txBody>
      </p:sp>
      <p:sp>
        <p:nvSpPr>
          <p:cNvPr id="1048588" name="矩形 1"/>
          <p:cNvSpPr/>
          <p:nvPr/>
        </p:nvSpPr>
        <p:spPr>
          <a:xfrm>
            <a:off x="1200078" y="999797"/>
            <a:ext cx="4754848" cy="713735"/>
          </a:xfrm>
          <a:prstGeom prst="rect">
            <a:avLst/>
          </a:prstGeom>
        </p:spPr>
        <p:txBody>
          <a:bodyPr wrap="none" lIns="91424" tIns="45718" rIns="91424" bIns="45718">
            <a:spAutoFit/>
          </a:bodyPr>
          <a:lstStyle/>
          <a:p>
            <a:pPr algn="ctr">
              <a:lnSpc>
                <a:spcPts val="4900"/>
              </a:lnSpc>
            </a:pPr>
            <a:r>
              <a:rPr lang="zh-CN" altLang="en-US" sz="3600" dirty="0">
                <a:solidFill>
                  <a:prstClr val="white"/>
                </a:solidFill>
                <a:latin typeface="微软雅黑" panose="020B0503020204020204" pitchFamily="82" charset="2"/>
                <a:ea typeface="微软雅黑" panose="020B0503020204020204" pitchFamily="82" charset="2"/>
              </a:rPr>
              <a:t>中山大学附属第一医院</a:t>
            </a:r>
            <a:endParaRPr lang="en-US" altLang="zh-CN" sz="3600" dirty="0">
              <a:solidFill>
                <a:prstClr val="white"/>
              </a:solidFill>
              <a:latin typeface="微软雅黑" panose="020B0503020204020204" pitchFamily="82" charset="2"/>
              <a:ea typeface="微软雅黑" panose="020B0503020204020204" pitchFamily="82" charset="2"/>
            </a:endParaRPr>
          </a:p>
        </p:txBody>
      </p:sp>
      <p:sp>
        <p:nvSpPr>
          <p:cNvPr id="1048589" name="文本框 8"/>
          <p:cNvSpPr txBox="1"/>
          <p:nvPr/>
        </p:nvSpPr>
        <p:spPr>
          <a:xfrm>
            <a:off x="2794138" y="4676851"/>
            <a:ext cx="1537600" cy="479298"/>
          </a:xfrm>
          <a:prstGeom prst="rect">
            <a:avLst/>
          </a:prstGeom>
          <a:noFill/>
        </p:spPr>
        <p:txBody>
          <a:bodyPr wrap="none" rtlCol="0">
            <a:spAutoFit/>
          </a:bodyPr>
          <a:lstStyle/>
          <a:p>
            <a:pPr algn="ctr">
              <a:lnSpc>
                <a:spcPct val="150000"/>
              </a:lnSpc>
            </a:pPr>
            <a:fld id="{BB962C8B-B14F-4D97-AF65-F5344CB8AC3E}" type="datetime2">
              <a:rPr lang="zh-CN" altLang="zh-CN" sz="1900" smtClean="0">
                <a:solidFill>
                  <a:schemeClr val="bg1"/>
                </a:solidFill>
                <a:latin typeface="微软雅黑" panose="020B0503020204020204" pitchFamily="82" charset="2"/>
                <a:ea typeface="微软雅黑" panose="020B0503020204020204" pitchFamily="82" charset="2"/>
              </a:rPr>
            </a:fld>
            <a:endParaRPr lang="zh-CN" altLang="zh-CN" sz="1900" dirty="0">
              <a:solidFill>
                <a:schemeClr val="bg1"/>
              </a:solidFill>
              <a:latin typeface="微软雅黑" panose="020B0503020204020204" pitchFamily="82" charset="2"/>
              <a:ea typeface="微软雅黑" panose="020B0503020204020204" pitchFamily="82" charset="2"/>
            </a:endParaRPr>
          </a:p>
        </p:txBody>
      </p:sp>
      <p:sp>
        <p:nvSpPr>
          <p:cNvPr id="1048590" name="文本框 2"/>
          <p:cNvSpPr txBox="1"/>
          <p:nvPr/>
        </p:nvSpPr>
        <p:spPr>
          <a:xfrm>
            <a:off x="1046172" y="2147227"/>
            <a:ext cx="5109091" cy="1813560"/>
          </a:xfrm>
          <a:prstGeom prst="rect">
            <a:avLst/>
          </a:prstGeom>
          <a:noFill/>
        </p:spPr>
        <p:txBody>
          <a:bodyPr wrap="square" lIns="91424" tIns="45718" rIns="91424" bIns="45718" rtlCol="0">
            <a:spAutoFit/>
          </a:bodyPr>
          <a:lstStyle/>
          <a:p>
            <a:pPr algn="ctr">
              <a:lnSpc>
                <a:spcPct val="200000"/>
              </a:lnSpc>
            </a:pPr>
            <a:r>
              <a:rPr lang="zh-CN" altLang="en-US" sz="2800" spc="300" dirty="0">
                <a:solidFill>
                  <a:prstClr val="white"/>
                </a:solidFill>
                <a:latin typeface="微软雅黑" panose="020B0503020204020204" pitchFamily="82" charset="2"/>
                <a:ea typeface="微软雅黑" panose="020B0503020204020204" pitchFamily="82" charset="2"/>
              </a:rPr>
              <a:t>医保立项指南服务价格项目改造方案</a:t>
            </a:r>
            <a:endParaRPr lang="zh-CN" altLang="en-US" sz="2800" spc="300" dirty="0">
              <a:solidFill>
                <a:prstClr val="white"/>
              </a:solidFill>
              <a:latin typeface="微软雅黑" panose="020B0503020204020204" pitchFamily="82" charset="2"/>
              <a:ea typeface="微软雅黑" panose="020B0503020204020204" pitchFamily="82" charset="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流程图: 手动输入 1"/>
          <p:cNvSpPr/>
          <p:nvPr/>
        </p:nvSpPr>
        <p:spPr>
          <a:xfrm rot="5400000">
            <a:off x="461963" y="39688"/>
            <a:ext cx="595312" cy="1524000"/>
          </a:xfrm>
          <a:prstGeom prst="flowChartManualInput">
            <a:avLst/>
          </a:prstGeom>
          <a:solidFill>
            <a:srgbClr val="C00000"/>
          </a:solidFill>
          <a:ln w="12700">
            <a:noFill/>
          </a:ln>
        </p:spPr>
        <p:txBody>
          <a:bodyPr anchor="ctr"/>
          <a:lstStyle/>
          <a:p>
            <a:pPr indent="0" algn="ctr"/>
            <a:endParaRPr lang="zh-CN" altLang="zh-CN">
              <a:solidFill>
                <a:srgbClr val="FFFFFF"/>
              </a:solidFill>
              <a:latin typeface="Arial" panose="020B0604020202020204" pitchFamily="34" charset="0"/>
              <a:ea typeface="宋体" panose="02010600030101010101" pitchFamily="2" charset="-122"/>
            </a:endParaRPr>
          </a:p>
        </p:txBody>
      </p:sp>
      <p:sp>
        <p:nvSpPr>
          <p:cNvPr id="1048657" name="TextBox 17"/>
          <p:cNvSpPr/>
          <p:nvPr/>
        </p:nvSpPr>
        <p:spPr>
          <a:xfrm>
            <a:off x="1406208" y="387985"/>
            <a:ext cx="1929130" cy="711200"/>
          </a:xfrm>
          <a:prstGeom prst="rect">
            <a:avLst/>
          </a:prstGeom>
          <a:noFill/>
          <a:ln w="9525">
            <a:noFill/>
          </a:ln>
        </p:spPr>
        <p:txBody>
          <a:bodyPr wrap="none" lIns="121917" tIns="60958" rIns="121917" bIns="60958" anchor="t">
            <a:spAutoFit/>
          </a:bodyPr>
          <a:lstStyle/>
          <a:p>
            <a:pPr indent="0" algn="l">
              <a:lnSpc>
                <a:spcPct val="120000"/>
              </a:lnSpc>
              <a:spcBef>
                <a:spcPts val="0"/>
              </a:spcBef>
              <a:spcAft>
                <a:spcPts val="0"/>
              </a:spcAft>
              <a:buNone/>
            </a:pPr>
            <a:r>
              <a:rPr lang="zh-CN" altLang="en-US" sz="3200" spc="120" dirty="0" smtClean="0">
                <a:solidFill>
                  <a:srgbClr val="404040"/>
                </a:solidFill>
                <a:latin typeface="微软雅黑" panose="020B0503020204020204" charset="-122"/>
                <a:ea typeface="微软雅黑" panose="020B0503020204020204" charset="-122"/>
                <a:sym typeface="+mn-ea"/>
              </a:rPr>
              <a:t>项目背景</a:t>
            </a:r>
            <a:endParaRPr lang="zh-CN" altLang="en-US" sz="3200" spc="120" dirty="0">
              <a:solidFill>
                <a:srgbClr val="404040"/>
              </a:solidFill>
              <a:latin typeface="微软雅黑" panose="020B0503020204020204" charset="-122"/>
              <a:ea typeface="微软雅黑" panose="020B0503020204020204" charset="-122"/>
              <a:sym typeface="+mn-ea"/>
            </a:endParaRPr>
          </a:p>
        </p:txBody>
      </p:sp>
      <p:sp>
        <p:nvSpPr>
          <p:cNvPr id="3" name="文本框 2"/>
          <p:cNvSpPr txBox="1"/>
          <p:nvPr/>
        </p:nvSpPr>
        <p:spPr>
          <a:xfrm>
            <a:off x="486410" y="1162685"/>
            <a:ext cx="3769995" cy="5631180"/>
          </a:xfrm>
          <a:prstGeom prst="rect">
            <a:avLst/>
          </a:prstGeom>
          <a:noFill/>
        </p:spPr>
        <p:txBody>
          <a:bodyPr wrap="square" rtlCol="0">
            <a:spAutoFit/>
          </a:bodyPr>
          <a:p>
            <a:r>
              <a:rPr lang="en-US" altLang="zh-CN"/>
              <a:t>       </a:t>
            </a:r>
            <a:r>
              <a:rPr lang="zh-CN" altLang="en-US">
                <a:latin typeface="黑体" panose="02010609060101010101" charset="-122"/>
                <a:ea typeface="黑体" panose="02010609060101010101" charset="-122"/>
                <a:cs typeface="黑体" panose="02010609060101010101" charset="-122"/>
              </a:rPr>
              <a:t>根据《国家医保局、国家卫生健康委、国家发展改革委、财政部、人力资源社会保障部、市场监管总局、国家中医药局、国家药监局关于印发〈深化医疗服务价格改革试点方案〉的通知》（医保发〔</a:t>
            </a:r>
            <a:r>
              <a:rPr lang="en-US" altLang="zh-CN">
                <a:latin typeface="黑体" panose="02010609060101010101" charset="-122"/>
                <a:ea typeface="黑体" panose="02010609060101010101" charset="-122"/>
                <a:cs typeface="黑体" panose="02010609060101010101" charset="-122"/>
              </a:rPr>
              <a:t>2021</a:t>
            </a:r>
            <a:r>
              <a:rPr lang="zh-CN" altLang="en-US">
                <a:latin typeface="黑体" panose="02010609060101010101" charset="-122"/>
                <a:ea typeface="黑体" panose="02010609060101010101" charset="-122"/>
                <a:cs typeface="黑体" panose="02010609060101010101" charset="-122"/>
              </a:rPr>
              <a:t>〕</a:t>
            </a:r>
            <a:r>
              <a:rPr lang="en-US" altLang="zh-CN">
                <a:latin typeface="黑体" panose="02010609060101010101" charset="-122"/>
                <a:ea typeface="黑体" panose="02010609060101010101" charset="-122"/>
                <a:cs typeface="黑体" panose="02010609060101010101" charset="-122"/>
              </a:rPr>
              <a:t>41</a:t>
            </a:r>
            <a:r>
              <a:rPr lang="zh-CN" altLang="en-US">
                <a:latin typeface="黑体" panose="02010609060101010101" charset="-122"/>
                <a:ea typeface="黑体" panose="02010609060101010101" charset="-122"/>
                <a:cs typeface="黑体" panose="02010609060101010101" charset="-122"/>
              </a:rPr>
              <a:t>号），国家医保局逐步对现行医疗服务价格项目进行规范，实现价格项目与操作步骤、诊疗部位等技术细节脱钩，构建内涵边界清晰、适应临床诊疗、便于监管的价格项目体系。为贯彻《关于印发〈体被系统医疗服务价格项目立项指南（试行）〉的通知》（医保价采函〔</a:t>
            </a:r>
            <a:r>
              <a:rPr lang="en-US" altLang="zh-CN">
                <a:latin typeface="黑体" panose="02010609060101010101" charset="-122"/>
                <a:ea typeface="黑体" panose="02010609060101010101" charset="-122"/>
                <a:cs typeface="黑体" panose="02010609060101010101" charset="-122"/>
              </a:rPr>
              <a:t>2025</a:t>
            </a:r>
            <a:r>
              <a:rPr lang="zh-CN" altLang="en-US">
                <a:latin typeface="黑体" panose="02010609060101010101" charset="-122"/>
                <a:ea typeface="黑体" panose="02010609060101010101" charset="-122"/>
                <a:cs typeface="黑体" panose="02010609060101010101" charset="-122"/>
              </a:rPr>
              <a:t>〕</a:t>
            </a:r>
            <a:r>
              <a:rPr lang="en-US" altLang="zh-CN">
                <a:latin typeface="黑体" panose="02010609060101010101" charset="-122"/>
                <a:ea typeface="黑体" panose="02010609060101010101" charset="-122"/>
                <a:cs typeface="黑体" panose="02010609060101010101" charset="-122"/>
              </a:rPr>
              <a:t>118</a:t>
            </a:r>
            <a:r>
              <a:rPr lang="zh-CN" altLang="en-US">
                <a:latin typeface="黑体" panose="02010609060101010101" charset="-122"/>
                <a:ea typeface="黑体" panose="02010609060101010101" charset="-122"/>
                <a:cs typeface="黑体" panose="02010609060101010101" charset="-122"/>
              </a:rPr>
              <a:t>号）等要求，对我省现行的体被系统类医疗服务项目进行优化整合并指导各地制定政府指导价，出台《广东省医疗保障局关于公布体被系统医疗服务价格项目的通知》，</a:t>
            </a:r>
            <a:r>
              <a:rPr lang="en-US" altLang="zh-CN" b="1" u="sng">
                <a:solidFill>
                  <a:srgbClr val="FF0000"/>
                </a:solidFill>
                <a:latin typeface="黑体" panose="02010609060101010101" charset="-122"/>
                <a:ea typeface="黑体" panose="02010609060101010101" charset="-122"/>
                <a:cs typeface="黑体" panose="02010609060101010101" charset="-122"/>
              </a:rPr>
              <a:t>2025</a:t>
            </a:r>
            <a:r>
              <a:rPr lang="zh-CN" altLang="en-US" b="1" u="sng">
                <a:solidFill>
                  <a:srgbClr val="FF0000"/>
                </a:solidFill>
                <a:latin typeface="黑体" panose="02010609060101010101" charset="-122"/>
                <a:ea typeface="黑体" panose="02010609060101010101" charset="-122"/>
                <a:cs typeface="黑体" panose="02010609060101010101" charset="-122"/>
              </a:rPr>
              <a:t>年</a:t>
            </a:r>
            <a:r>
              <a:rPr lang="en-US" altLang="zh-CN" b="1" u="sng">
                <a:solidFill>
                  <a:srgbClr val="FF0000"/>
                </a:solidFill>
                <a:latin typeface="黑体" panose="02010609060101010101" charset="-122"/>
                <a:ea typeface="黑体" panose="02010609060101010101" charset="-122"/>
                <a:cs typeface="黑体" panose="02010609060101010101" charset="-122"/>
              </a:rPr>
              <a:t>12</a:t>
            </a:r>
            <a:r>
              <a:rPr lang="zh-CN" altLang="en-US" b="1" u="sng">
                <a:solidFill>
                  <a:srgbClr val="FF0000"/>
                </a:solidFill>
                <a:latin typeface="黑体" panose="02010609060101010101" charset="-122"/>
                <a:ea typeface="黑体" panose="02010609060101010101" charset="-122"/>
                <a:cs typeface="黑体" panose="02010609060101010101" charset="-122"/>
              </a:rPr>
              <a:t>月</a:t>
            </a:r>
            <a:r>
              <a:rPr lang="en-US" altLang="zh-CN" b="1" u="sng">
                <a:solidFill>
                  <a:srgbClr val="FF0000"/>
                </a:solidFill>
                <a:latin typeface="黑体" panose="02010609060101010101" charset="-122"/>
                <a:ea typeface="黑体" panose="02010609060101010101" charset="-122"/>
                <a:cs typeface="黑体" panose="02010609060101010101" charset="-122"/>
              </a:rPr>
              <a:t>1</a:t>
            </a:r>
            <a:r>
              <a:rPr lang="zh-CN" altLang="en-US" b="1" u="sng">
                <a:solidFill>
                  <a:srgbClr val="FF0000"/>
                </a:solidFill>
                <a:latin typeface="黑体" panose="02010609060101010101" charset="-122"/>
                <a:ea typeface="黑体" panose="02010609060101010101" charset="-122"/>
                <a:cs typeface="黑体" panose="02010609060101010101" charset="-122"/>
              </a:rPr>
              <a:t>日实施</a:t>
            </a:r>
            <a:r>
              <a:rPr lang="zh-CN" altLang="en-US">
                <a:latin typeface="黑体" panose="02010609060101010101" charset="-122"/>
                <a:ea typeface="黑体" panose="02010609060101010101" charset="-122"/>
                <a:cs typeface="黑体" panose="02010609060101010101" charset="-122"/>
              </a:rPr>
              <a:t>。</a:t>
            </a:r>
            <a:endParaRPr lang="zh-CN" altLang="en-US">
              <a:latin typeface="黑体" panose="02010609060101010101" charset="-122"/>
              <a:ea typeface="黑体" panose="02010609060101010101" charset="-122"/>
              <a:cs typeface="黑体" panose="02010609060101010101" charset="-122"/>
            </a:endParaRPr>
          </a:p>
        </p:txBody>
      </p:sp>
      <p:pic>
        <p:nvPicPr>
          <p:cNvPr id="6" name="图片 5"/>
          <p:cNvPicPr>
            <a:picLocks noChangeAspect="1"/>
          </p:cNvPicPr>
          <p:nvPr/>
        </p:nvPicPr>
        <p:blipFill>
          <a:blip r:embed="rId1"/>
          <a:stretch>
            <a:fillRect/>
          </a:stretch>
        </p:blipFill>
        <p:spPr>
          <a:xfrm>
            <a:off x="4184650" y="1420495"/>
            <a:ext cx="7778115" cy="51161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流程图: 手动输入 1"/>
          <p:cNvSpPr/>
          <p:nvPr/>
        </p:nvSpPr>
        <p:spPr>
          <a:xfrm rot="5400000">
            <a:off x="461963" y="39688"/>
            <a:ext cx="595312" cy="1524000"/>
          </a:xfrm>
          <a:prstGeom prst="flowChartManualInput">
            <a:avLst/>
          </a:prstGeom>
          <a:solidFill>
            <a:srgbClr val="C00000"/>
          </a:solidFill>
          <a:ln w="12700">
            <a:noFill/>
          </a:ln>
        </p:spPr>
        <p:txBody>
          <a:bodyPr anchor="ctr"/>
          <a:lstStyle/>
          <a:p>
            <a:pPr indent="0" algn="ctr"/>
            <a:endParaRPr lang="zh-CN" altLang="zh-CN">
              <a:solidFill>
                <a:srgbClr val="FFFFFF"/>
              </a:solidFill>
              <a:latin typeface="Arial" panose="020B0604020202020204" pitchFamily="34" charset="0"/>
              <a:ea typeface="宋体" panose="02010600030101010101" pitchFamily="2" charset="-122"/>
            </a:endParaRPr>
          </a:p>
        </p:txBody>
      </p:sp>
      <p:sp>
        <p:nvSpPr>
          <p:cNvPr id="1048657" name="TextBox 17"/>
          <p:cNvSpPr/>
          <p:nvPr/>
        </p:nvSpPr>
        <p:spPr>
          <a:xfrm>
            <a:off x="1376998" y="387985"/>
            <a:ext cx="1868170" cy="711200"/>
          </a:xfrm>
          <a:prstGeom prst="rect">
            <a:avLst/>
          </a:prstGeom>
          <a:noFill/>
          <a:ln w="9525">
            <a:noFill/>
          </a:ln>
        </p:spPr>
        <p:txBody>
          <a:bodyPr wrap="none" lIns="121917" tIns="60958" rIns="121917" bIns="60958" anchor="t">
            <a:spAutoFit/>
          </a:bodyPr>
          <a:lstStyle/>
          <a:p>
            <a:pPr>
              <a:lnSpc>
                <a:spcPct val="120000"/>
              </a:lnSpc>
            </a:pPr>
            <a:r>
              <a:rPr lang="zh-CN" sz="3200" dirty="0" smtClean="0">
                <a:solidFill>
                  <a:schemeClr val="dk1"/>
                </a:solidFill>
                <a:latin typeface="微软雅黑" panose="020B0503020204020204" charset="-122"/>
                <a:ea typeface="微软雅黑" panose="020B0503020204020204" charset="-122"/>
              </a:rPr>
              <a:t>项目需求</a:t>
            </a:r>
            <a:endParaRPr lang="zh-CN" sz="3200" dirty="0" smtClean="0">
              <a:solidFill>
                <a:schemeClr val="dk1"/>
              </a:solidFill>
              <a:latin typeface="微软雅黑" panose="020B0503020204020204" charset="-122"/>
              <a:ea typeface="微软雅黑" panose="020B0503020204020204" charset="-122"/>
            </a:endParaRPr>
          </a:p>
        </p:txBody>
      </p:sp>
      <p:graphicFrame>
        <p:nvGraphicFramePr>
          <p:cNvPr id="4" name="表格 4"/>
          <p:cNvGraphicFramePr>
            <a:graphicFrameLocks noGrp="1"/>
          </p:cNvGraphicFramePr>
          <p:nvPr/>
        </p:nvGraphicFramePr>
        <p:xfrm>
          <a:off x="330835" y="1226820"/>
          <a:ext cx="11075035" cy="5154295"/>
        </p:xfrm>
        <a:graphic>
          <a:graphicData uri="http://schemas.openxmlformats.org/drawingml/2006/table">
            <a:tbl>
              <a:tblPr firstRow="1" bandRow="1">
                <a:tableStyleId>{7DF18680-E054-41AD-8BC1-D1AEF772440D}</a:tableStyleId>
              </a:tblPr>
              <a:tblGrid>
                <a:gridCol w="846455"/>
                <a:gridCol w="3779520"/>
                <a:gridCol w="6449060"/>
              </a:tblGrid>
              <a:tr h="410210">
                <a:tc>
                  <a:txBody>
                    <a:bodyPr/>
                    <a:lstStyle/>
                    <a:p>
                      <a:r>
                        <a:rPr lang="zh-CN" altLang="en-US" sz="1400" dirty="0">
                          <a:latin typeface="微软雅黑" panose="020B0503020204020204" charset="-122"/>
                          <a:ea typeface="微软雅黑" panose="020B0503020204020204" charset="-122"/>
                        </a:rPr>
                        <a:t>序号</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dirty="0">
                          <a:latin typeface="微软雅黑" panose="020B0503020204020204" charset="-122"/>
                          <a:ea typeface="微软雅黑" panose="020B0503020204020204" charset="-122"/>
                        </a:rPr>
                        <a:t>需求描述</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dirty="0">
                          <a:latin typeface="微软雅黑" panose="020B0503020204020204" charset="-122"/>
                          <a:ea typeface="微软雅黑" panose="020B0503020204020204" charset="-122"/>
                        </a:rPr>
                        <a:t>需求说明</a:t>
                      </a:r>
                      <a:endParaRPr lang="zh-CN" altLang="en-US" sz="1400" dirty="0">
                        <a:latin typeface="微软雅黑" panose="020B0503020204020204" charset="-122"/>
                        <a:ea typeface="微软雅黑" panose="020B0503020204020204" charset="-122"/>
                      </a:endParaRPr>
                    </a:p>
                  </a:txBody>
                  <a:tcPr/>
                </a:tc>
              </a:tr>
              <a:tr h="808990">
                <a:tc>
                  <a:txBody>
                    <a:bodyPr/>
                    <a:lstStyle/>
                    <a:p>
                      <a:pPr algn="ctr"/>
                      <a:r>
                        <a:rPr lang="en-US" altLang="zh-CN" sz="1400" dirty="0">
                          <a:latin typeface="微软雅黑" panose="020B0503020204020204" charset="-122"/>
                          <a:ea typeface="微软雅黑" panose="020B0503020204020204" charset="-122"/>
                        </a:rPr>
                        <a:t>1</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b="0" dirty="0">
                          <a:latin typeface="微软雅黑" panose="020B0503020204020204" charset="-122"/>
                          <a:ea typeface="微软雅黑" panose="020B0503020204020204" charset="-122"/>
                        </a:rPr>
                        <a:t>一类：设置收费项目限总金额</a:t>
                      </a:r>
                      <a:r>
                        <a:rPr lang="en-US" altLang="zh-CN" sz="1400" b="0" dirty="0">
                          <a:latin typeface="微软雅黑" panose="020B0503020204020204" charset="-122"/>
                          <a:ea typeface="微软雅黑" panose="020B0503020204020204" charset="-122"/>
                        </a:rPr>
                        <a:t>:</a:t>
                      </a:r>
                      <a:endParaRPr lang="en-US" altLang="zh-CN" sz="1400" b="0" dirty="0">
                        <a:latin typeface="微软雅黑" panose="020B0503020204020204" charset="-122"/>
                        <a:ea typeface="微软雅黑" panose="020B0503020204020204" charset="-122"/>
                      </a:endParaRPr>
                    </a:p>
                  </a:txBody>
                  <a:tcPr/>
                </a:tc>
                <a:tc>
                  <a:txBody>
                    <a:bodyPr/>
                    <a:lstStyle/>
                    <a:p>
                      <a:r>
                        <a:rPr lang="en-US" altLang="zh-CN" sz="1400" b="0" dirty="0">
                          <a:latin typeface="微软雅黑" panose="020B0503020204020204" charset="-122"/>
                          <a:ea typeface="微软雅黑" panose="020B0503020204020204" charset="-122"/>
                        </a:rPr>
                        <a:t>1</a:t>
                      </a:r>
                      <a:r>
                        <a:rPr lang="zh-CN" altLang="en-US" sz="1400" b="0" dirty="0">
                          <a:latin typeface="微软雅黑" panose="020B0503020204020204" charset="-122"/>
                          <a:ea typeface="微软雅黑" panose="020B0503020204020204" charset="-122"/>
                        </a:rPr>
                        <a:t>、可叠加项目收费封顶，封顶数量按小数点后一位取舍取整</a:t>
                      </a:r>
                      <a:r>
                        <a:rPr lang="en-US" altLang="zh-CN" sz="1400" b="0" dirty="0">
                          <a:latin typeface="微软雅黑" panose="020B0503020204020204" charset="-122"/>
                          <a:ea typeface="微软雅黑" panose="020B0503020204020204" charset="-122"/>
                        </a:rPr>
                        <a:t>;</a:t>
                      </a:r>
                      <a:endParaRPr lang="en-US" altLang="zh-CN" sz="1400" b="0" dirty="0">
                        <a:latin typeface="微软雅黑" panose="020B0503020204020204" charset="-122"/>
                        <a:ea typeface="微软雅黑" panose="020B0503020204020204" charset="-122"/>
                      </a:endParaRPr>
                    </a:p>
                    <a:p>
                      <a:endParaRPr lang="en-US" altLang="zh-CN" sz="1400" b="0" dirty="0">
                        <a:latin typeface="微软雅黑" panose="020B0503020204020204" charset="-122"/>
                        <a:ea typeface="微软雅黑" panose="020B0503020204020204" charset="-122"/>
                      </a:endParaRPr>
                    </a:p>
                    <a:p>
                      <a:r>
                        <a:rPr lang="en-US" altLang="zh-CN" sz="1400" b="0" dirty="0">
                          <a:latin typeface="微软雅黑" panose="020B0503020204020204" charset="-122"/>
                          <a:ea typeface="微软雅黑" panose="020B0503020204020204" charset="-122"/>
                        </a:rPr>
                        <a:t>2</a:t>
                      </a:r>
                      <a:r>
                        <a:rPr lang="zh-CN" altLang="en-US" sz="1400" b="0" dirty="0">
                          <a:latin typeface="微软雅黑" panose="020B0503020204020204" charset="-122"/>
                          <a:ea typeface="微软雅黑" panose="020B0503020204020204" charset="-122"/>
                        </a:rPr>
                        <a:t>、描述同一手术封顶的需要对该项目总条目数量进行封顶，描述单个的按照每条目数量进行封顶，描述每次的按照每自然日数量进行封顶</a:t>
                      </a:r>
                      <a:r>
                        <a:rPr lang="en-US" altLang="zh-CN" sz="1400" b="0" dirty="0">
                          <a:latin typeface="微软雅黑" panose="020B0503020204020204" charset="-122"/>
                          <a:ea typeface="微软雅黑" panose="020B0503020204020204" charset="-122"/>
                        </a:rPr>
                        <a:t>;</a:t>
                      </a:r>
                      <a:endParaRPr lang="en-US" altLang="zh-CN" sz="1400" b="0" dirty="0">
                        <a:latin typeface="微软雅黑" panose="020B0503020204020204" charset="-122"/>
                        <a:ea typeface="微软雅黑" panose="020B0503020204020204" charset="-122"/>
                      </a:endParaRPr>
                    </a:p>
                  </a:txBody>
                  <a:tcPr/>
                </a:tc>
              </a:tr>
              <a:tr h="766445">
                <a:tc>
                  <a:txBody>
                    <a:bodyPr/>
                    <a:lstStyle/>
                    <a:p>
                      <a:pPr algn="ctr"/>
                      <a:r>
                        <a:rPr lang="en-US" altLang="zh-CN" sz="1400" dirty="0">
                          <a:latin typeface="微软雅黑" panose="020B0503020204020204" charset="-122"/>
                          <a:ea typeface="微软雅黑" panose="020B0503020204020204" charset="-122"/>
                        </a:rPr>
                        <a:t>2</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dirty="0">
                          <a:latin typeface="微软雅黑" panose="020B0503020204020204" charset="-122"/>
                          <a:ea typeface="微软雅黑" panose="020B0503020204020204" charset="-122"/>
                        </a:rPr>
                        <a:t>二类：设置收费项目录入收费数量时换算公式</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需要根据每个项目不同的说明分别设置不同的公式</a:t>
                      </a:r>
                      <a:r>
                        <a:rPr lang="en-US" altLang="zh-CN" sz="1400" dirty="0">
                          <a:latin typeface="微软雅黑" panose="020B0503020204020204" charset="-122"/>
                          <a:ea typeface="微软雅黑" panose="020B0503020204020204" charset="-122"/>
                        </a:rPr>
                        <a:t>)</a:t>
                      </a:r>
                      <a:endParaRPr lang="en-US" altLang="zh-CN" sz="1400" dirty="0">
                        <a:latin typeface="微软雅黑" panose="020B0503020204020204" charset="-122"/>
                        <a:ea typeface="微软雅黑" panose="020B050302020402020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dirty="0">
                          <a:latin typeface="微软雅黑" panose="020B0503020204020204" charset="-122"/>
                          <a:ea typeface="微软雅黑" panose="020B0503020204020204" charset="-122"/>
                        </a:rPr>
                        <a:t>1</a:t>
                      </a:r>
                      <a:r>
                        <a:rPr kumimoji="1" lang="zh-CN" altLang="en-US" sz="1400" dirty="0">
                          <a:latin typeface="微软雅黑" panose="020B0503020204020204" charset="-122"/>
                          <a:ea typeface="微软雅黑" panose="020B0503020204020204" charset="-122"/>
                        </a:rPr>
                        <a:t>、临床输入平方厘米、厘米自动转化为项目收费计价单位数量</a:t>
                      </a:r>
                      <a:r>
                        <a:rPr kumimoji="1" lang="en-US" altLang="zh-CN" sz="1400" dirty="0">
                          <a:latin typeface="微软雅黑" panose="020B0503020204020204" charset="-122"/>
                          <a:ea typeface="微软雅黑" panose="020B0503020204020204" charset="-122"/>
                        </a:rPr>
                        <a:t>(</a:t>
                      </a:r>
                      <a:r>
                        <a:rPr kumimoji="1" lang="zh-CN" altLang="en-US" sz="1400" dirty="0">
                          <a:latin typeface="微软雅黑" panose="020B0503020204020204" charset="-122"/>
                          <a:ea typeface="微软雅黑" panose="020B0503020204020204" charset="-122"/>
                        </a:rPr>
                        <a:t>部分项目区分头面部和躯干部按平方厘米换算的公式不同，每增加平方厘米之间和每增加厘米的公式不同，具体按照文件项目说明规则</a:t>
                      </a:r>
                      <a:r>
                        <a:rPr kumimoji="1" lang="en-US" altLang="zh-CN" sz="1400" dirty="0">
                          <a:latin typeface="微软雅黑" panose="020B0503020204020204" charset="-122"/>
                          <a:ea typeface="微软雅黑" panose="020B0503020204020204" charset="-122"/>
                        </a:rPr>
                        <a:t>):</a:t>
                      </a:r>
                      <a:endParaRPr kumimoji="1" lang="en-US" altLang="zh-CN" sz="1400"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zh-CN" sz="1400"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dirty="0">
                          <a:latin typeface="微软雅黑" panose="020B0503020204020204" charset="-122"/>
                          <a:ea typeface="微软雅黑" panose="020B0503020204020204" charset="-122"/>
                        </a:rPr>
                        <a:t>2</a:t>
                      </a:r>
                      <a:r>
                        <a:rPr kumimoji="1" lang="zh-CN" altLang="en-US" sz="1400" dirty="0">
                          <a:latin typeface="微软雅黑" panose="020B0503020204020204" charset="-122"/>
                          <a:ea typeface="微软雅黑" panose="020B0503020204020204" charset="-122"/>
                        </a:rPr>
                        <a:t>、存在每个按</a:t>
                      </a:r>
                      <a:r>
                        <a:rPr kumimoji="1" lang="en-US" altLang="zh-CN" sz="1400" dirty="0">
                          <a:latin typeface="微软雅黑" panose="020B0503020204020204" charset="-122"/>
                          <a:ea typeface="微软雅黑" panose="020B0503020204020204" charset="-122"/>
                        </a:rPr>
                        <a:t>144</a:t>
                      </a:r>
                      <a:r>
                        <a:rPr kumimoji="1" lang="zh-CN" altLang="en-US" sz="1400" dirty="0">
                          <a:latin typeface="微软雅黑" panose="020B0503020204020204" charset="-122"/>
                          <a:ea typeface="微软雅黑" panose="020B0503020204020204" charset="-122"/>
                        </a:rPr>
                        <a:t>平方厘米或</a:t>
                      </a:r>
                      <a:r>
                        <a:rPr kumimoji="1" lang="en-US" altLang="zh-CN" sz="1400" dirty="0">
                          <a:latin typeface="微软雅黑" panose="020B0503020204020204" charset="-122"/>
                          <a:ea typeface="微软雅黑" panose="020B0503020204020204" charset="-122"/>
                        </a:rPr>
                        <a:t>1%</a:t>
                      </a:r>
                      <a:r>
                        <a:rPr kumimoji="1" lang="zh-CN" altLang="en-US" sz="1400" dirty="0">
                          <a:latin typeface="微软雅黑" panose="020B0503020204020204" charset="-122"/>
                          <a:ea typeface="微软雅黑" panose="020B0503020204020204" charset="-122"/>
                        </a:rPr>
                        <a:t>体表面积为基础计价的说明选择按照</a:t>
                      </a:r>
                      <a:r>
                        <a:rPr kumimoji="1" lang="en-US" altLang="zh-CN" sz="1400" dirty="0">
                          <a:latin typeface="微软雅黑" panose="020B0503020204020204" charset="-122"/>
                          <a:ea typeface="微软雅黑" panose="020B0503020204020204" charset="-122"/>
                        </a:rPr>
                        <a:t>144</a:t>
                      </a:r>
                      <a:r>
                        <a:rPr kumimoji="1" lang="zh-CN" altLang="en-US" sz="1400" dirty="0">
                          <a:latin typeface="微软雅黑" panose="020B0503020204020204" charset="-122"/>
                          <a:ea typeface="微软雅黑" panose="020B0503020204020204" charset="-122"/>
                        </a:rPr>
                        <a:t>平方厘米为公式计算</a:t>
                      </a:r>
                      <a:r>
                        <a:rPr kumimoji="1" lang="en-US" altLang="zh-CN" sz="1400" dirty="0">
                          <a:latin typeface="微软雅黑" panose="020B0503020204020204" charset="-122"/>
                          <a:ea typeface="微软雅黑" panose="020B0503020204020204" charset="-122"/>
                        </a:rPr>
                        <a:t>:</a:t>
                      </a:r>
                      <a:endParaRPr kumimoji="1" lang="en-US" altLang="zh-CN" sz="1400" dirty="0">
                        <a:latin typeface="微软雅黑" panose="020B0503020204020204" charset="-122"/>
                        <a:ea typeface="微软雅黑" panose="020B0503020204020204" charset="-122"/>
                      </a:endParaRPr>
                    </a:p>
                  </a:txBody>
                  <a:tcPr/>
                </a:tc>
              </a:tr>
              <a:tr h="809625">
                <a:tc>
                  <a:txBody>
                    <a:bodyPr/>
                    <a:lstStyle/>
                    <a:p>
                      <a:pPr algn="ctr"/>
                      <a:r>
                        <a:rPr lang="en-US" altLang="zh-CN" sz="1400" dirty="0">
                          <a:latin typeface="微软雅黑" panose="020B0503020204020204" charset="-122"/>
                          <a:ea typeface="微软雅黑" panose="020B0503020204020204" charset="-122"/>
                        </a:rPr>
                        <a:t>3</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dirty="0">
                          <a:latin typeface="微软雅黑" panose="020B0503020204020204" charset="-122"/>
                          <a:ea typeface="微软雅黑" panose="020B0503020204020204" charset="-122"/>
                        </a:rPr>
                        <a:t>三类：设置收费项目收费数量</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单价</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基础价公式</a:t>
                      </a:r>
                      <a:endParaRPr lang="zh-CN" altLang="en-US" sz="1400" dirty="0">
                        <a:latin typeface="微软雅黑" panose="020B0503020204020204" charset="-122"/>
                        <a:ea typeface="微软雅黑" panose="020B050302020402020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dirty="0">
                          <a:latin typeface="微软雅黑" panose="020B0503020204020204" charset="-122"/>
                          <a:ea typeface="微软雅黑" panose="020B0503020204020204" charset="-122"/>
                        </a:rPr>
                        <a:t>1</a:t>
                      </a:r>
                      <a:r>
                        <a:rPr kumimoji="1" lang="zh-CN" altLang="en-US" sz="1400" dirty="0">
                          <a:latin typeface="微软雅黑" panose="020B0503020204020204" charset="-122"/>
                          <a:ea typeface="微软雅黑" panose="020B0503020204020204" charset="-122"/>
                        </a:rPr>
                        <a:t>、救护车转运费项目按照每公里数为单位计价后总数自动</a:t>
                      </a:r>
                      <a:r>
                        <a:rPr kumimoji="1" lang="en-US" altLang="zh-CN" sz="1400" dirty="0">
                          <a:latin typeface="微软雅黑" panose="020B0503020204020204" charset="-122"/>
                          <a:ea typeface="微软雅黑" panose="020B0503020204020204" charset="-122"/>
                        </a:rPr>
                        <a:t>+55</a:t>
                      </a:r>
                      <a:r>
                        <a:rPr kumimoji="1" lang="zh-CN" altLang="en-US" sz="1400" dirty="0">
                          <a:latin typeface="微软雅黑" panose="020B0503020204020204" charset="-122"/>
                          <a:ea typeface="微软雅黑" panose="020B0503020204020204" charset="-122"/>
                        </a:rPr>
                        <a:t>元基础费用</a:t>
                      </a:r>
                      <a:r>
                        <a:rPr kumimoji="1" lang="en-US" altLang="zh-CN" sz="1400" dirty="0">
                          <a:latin typeface="微软雅黑" panose="020B0503020204020204" charset="-122"/>
                          <a:ea typeface="微软雅黑" panose="020B0503020204020204" charset="-122"/>
                        </a:rPr>
                        <a:t>;</a:t>
                      </a:r>
                      <a:endParaRPr kumimoji="1" lang="en-US" altLang="zh-CN" sz="1400" dirty="0">
                        <a:latin typeface="微软雅黑" panose="020B0503020204020204" charset="-122"/>
                        <a:ea typeface="微软雅黑" panose="020B0503020204020204" charset="-122"/>
                      </a:endParaRPr>
                    </a:p>
                  </a:txBody>
                  <a:tcPr/>
                </a:tc>
              </a:tr>
              <a:tr h="808990">
                <a:tc>
                  <a:txBody>
                    <a:bodyPr/>
                    <a:lstStyle/>
                    <a:p>
                      <a:pPr algn="ctr"/>
                      <a:r>
                        <a:rPr lang="en-US" altLang="zh-CN" sz="1400" dirty="0">
                          <a:latin typeface="微软雅黑" panose="020B0503020204020204" charset="-122"/>
                          <a:ea typeface="微软雅黑" panose="020B0503020204020204" charset="-122"/>
                        </a:rPr>
                        <a:t>4</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dirty="0">
                          <a:latin typeface="微软雅黑" panose="020B0503020204020204" charset="-122"/>
                          <a:ea typeface="微软雅黑" panose="020B0503020204020204" charset="-122"/>
                        </a:rPr>
                        <a:t>四类：门诊诊查费总金额由多个收费条目组成，增加中医门诊诊查费、药师门诊诊查费和护理门诊诊查费等</a:t>
                      </a:r>
                      <a:r>
                        <a:rPr lang="en-US" altLang="zh-CN" sz="1400" dirty="0">
                          <a:latin typeface="微软雅黑" panose="020B0503020204020204" charset="-122"/>
                          <a:ea typeface="微软雅黑" panose="020B0503020204020204" charset="-122"/>
                        </a:rPr>
                        <a:t>;</a:t>
                      </a:r>
                      <a:endParaRPr lang="en-US" altLang="zh-CN" sz="1400" dirty="0">
                        <a:latin typeface="微软雅黑" panose="020B0503020204020204" charset="-122"/>
                        <a:ea typeface="微软雅黑" panose="020B0503020204020204" charset="-122"/>
                      </a:endParaRPr>
                    </a:p>
                  </a:txBody>
                  <a:tcPr/>
                </a:tc>
                <a:tc>
                  <a:txBody>
                    <a:bodyPr/>
                    <a:lstStyle/>
                    <a:p>
                      <a:r>
                        <a:rPr lang="en-US" altLang="zh-CN" sz="1400" dirty="0">
                          <a:latin typeface="微软雅黑" panose="020B0503020204020204" charset="-122"/>
                          <a:ea typeface="微软雅黑" panose="020B0503020204020204" charset="-122"/>
                        </a:rPr>
                        <a:t>1</a:t>
                      </a:r>
                      <a:r>
                        <a:rPr lang="zh-CN" altLang="en-US" sz="1400" dirty="0">
                          <a:latin typeface="微软雅黑" panose="020B0503020204020204" charset="-122"/>
                          <a:ea typeface="微软雅黑" panose="020B0503020204020204" charset="-122"/>
                        </a:rPr>
                        <a:t>、门诊诊查费总额按：基础价</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医生职称加收、基础价</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医生职称加收</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儿童加收组成</a:t>
                      </a:r>
                      <a:endParaRPr lang="zh-CN" altLang="en-US" sz="1400" dirty="0">
                        <a:latin typeface="微软雅黑" panose="020B0503020204020204" charset="-122"/>
                        <a:ea typeface="微软雅黑" panose="020B0503020204020204" charset="-122"/>
                      </a:endParaRPr>
                    </a:p>
                    <a:p>
                      <a:endParaRPr lang="zh-CN" altLang="en-US" sz="1400" dirty="0">
                        <a:latin typeface="微软雅黑" panose="020B0503020204020204" charset="-122"/>
                        <a:ea typeface="微软雅黑" panose="020B0503020204020204" charset="-122"/>
                      </a:endParaRPr>
                    </a:p>
                    <a:p>
                      <a:r>
                        <a:rPr lang="en-US" altLang="zh-CN" sz="1400" dirty="0">
                          <a:latin typeface="微软雅黑" panose="020B0503020204020204" charset="-122"/>
                          <a:ea typeface="微软雅黑" panose="020B0503020204020204" charset="-122"/>
                        </a:rPr>
                        <a:t>2</a:t>
                      </a:r>
                      <a:r>
                        <a:rPr lang="zh-CN" altLang="en-US" sz="1400" dirty="0">
                          <a:latin typeface="微软雅黑" panose="020B0503020204020204" charset="-122"/>
                          <a:ea typeface="微软雅黑" panose="020B0503020204020204" charset="-122"/>
                        </a:rPr>
                        <a:t>、增加中医门诊诊查费、药师门诊诊查费和护理门诊诊查费等</a:t>
                      </a:r>
                      <a:r>
                        <a:rPr lang="en-US" altLang="zh-CN" sz="1400" dirty="0">
                          <a:latin typeface="微软雅黑" panose="020B0503020204020204" charset="-122"/>
                          <a:ea typeface="微软雅黑" panose="020B0503020204020204" charset="-122"/>
                        </a:rPr>
                        <a:t>;</a:t>
                      </a:r>
                      <a:endParaRPr lang="en-US" altLang="zh-CN" sz="1400" dirty="0">
                        <a:latin typeface="微软雅黑" panose="020B0503020204020204" charset="-122"/>
                        <a:ea typeface="微软雅黑" panose="020B0503020204020204" charset="-122"/>
                      </a:endParaRPr>
                    </a:p>
                  </a:txBody>
                  <a:tcPr/>
                </a:tc>
              </a:tr>
              <a:tr h="808990">
                <a:tc>
                  <a:txBody>
                    <a:bodyPr/>
                    <a:lstStyle/>
                    <a:p>
                      <a:pPr algn="ctr"/>
                      <a:r>
                        <a:rPr lang="en-US" altLang="zh-CN" sz="1400" dirty="0">
                          <a:latin typeface="微软雅黑" panose="020B0503020204020204" charset="-122"/>
                          <a:ea typeface="微软雅黑" panose="020B0503020204020204" charset="-122"/>
                        </a:rPr>
                        <a:t>5</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dirty="0">
                          <a:latin typeface="微软雅黑" panose="020B0503020204020204" charset="-122"/>
                          <a:ea typeface="微软雅黑" panose="020B0503020204020204" charset="-122"/>
                        </a:rPr>
                        <a:t>五类：院内会诊费分三个等级收取。</a:t>
                      </a:r>
                      <a:endParaRPr lang="zh-CN" altLang="en-US" sz="1400" dirty="0">
                        <a:latin typeface="微软雅黑" panose="020B0503020204020204" charset="-122"/>
                        <a:ea typeface="微软雅黑" panose="020B050302020402020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微软雅黑" panose="020B0503020204020204" charset="-122"/>
                          <a:ea typeface="微软雅黑" panose="020B0503020204020204" charset="-122"/>
                        </a:rPr>
                        <a:t>1</a:t>
                      </a:r>
                      <a:r>
                        <a:rPr lang="zh-CN" altLang="en-US" sz="1400" dirty="0">
                          <a:latin typeface="微软雅黑" panose="020B0503020204020204" charset="-122"/>
                          <a:ea typeface="微软雅黑" panose="020B0503020204020204" charset="-122"/>
                        </a:rPr>
                        <a:t>、三个等级为：主治、副主任和主任；</a:t>
                      </a:r>
                      <a:endParaRPr lang="zh-CN" altLang="en-US" sz="1400"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400"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微软雅黑" panose="020B0503020204020204" charset="-122"/>
                          <a:ea typeface="微软雅黑" panose="020B0503020204020204" charset="-122"/>
                        </a:rPr>
                        <a:t>2</a:t>
                      </a:r>
                      <a:r>
                        <a:rPr lang="zh-CN" altLang="en-US" sz="1400" dirty="0">
                          <a:latin typeface="微软雅黑" panose="020B0503020204020204" charset="-122"/>
                          <a:ea typeface="微软雅黑" panose="020B0503020204020204" charset="-122"/>
                        </a:rPr>
                        <a:t>、收费由主治</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副高或者主治</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正高的方式组合，出院时对没有完成的会诊要进行强制退费处理；</a:t>
                      </a:r>
                      <a:endParaRPr lang="zh-CN" altLang="en-US" sz="1400" dirty="0">
                        <a:latin typeface="微软雅黑" panose="020B0503020204020204" charset="-122"/>
                        <a:ea typeface="微软雅黑" panose="020B0503020204020204" charset="-122"/>
                      </a:endParaRPr>
                    </a:p>
                  </a:txBody>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流程图: 手动输入 1"/>
          <p:cNvSpPr/>
          <p:nvPr/>
        </p:nvSpPr>
        <p:spPr>
          <a:xfrm rot="5400000">
            <a:off x="461963" y="39688"/>
            <a:ext cx="595312" cy="1524000"/>
          </a:xfrm>
          <a:prstGeom prst="flowChartManualInput">
            <a:avLst/>
          </a:prstGeom>
          <a:solidFill>
            <a:srgbClr val="C00000"/>
          </a:solidFill>
          <a:ln w="12700">
            <a:noFill/>
          </a:ln>
        </p:spPr>
        <p:txBody>
          <a:bodyPr anchor="ctr"/>
          <a:lstStyle/>
          <a:p>
            <a:pPr indent="0" algn="ctr"/>
            <a:endParaRPr lang="zh-CN" altLang="zh-CN">
              <a:solidFill>
                <a:srgbClr val="FFFFFF"/>
              </a:solidFill>
              <a:latin typeface="Arial" panose="020B0604020202020204" pitchFamily="34" charset="0"/>
              <a:ea typeface="宋体" panose="02010600030101010101" pitchFamily="2" charset="-122"/>
            </a:endParaRPr>
          </a:p>
        </p:txBody>
      </p:sp>
      <p:sp>
        <p:nvSpPr>
          <p:cNvPr id="1048657" name="TextBox 17"/>
          <p:cNvSpPr/>
          <p:nvPr/>
        </p:nvSpPr>
        <p:spPr>
          <a:xfrm>
            <a:off x="1376998" y="387985"/>
            <a:ext cx="3493770" cy="711200"/>
          </a:xfrm>
          <a:prstGeom prst="rect">
            <a:avLst/>
          </a:prstGeom>
          <a:noFill/>
          <a:ln w="9525">
            <a:noFill/>
          </a:ln>
        </p:spPr>
        <p:txBody>
          <a:bodyPr wrap="none" lIns="121917" tIns="60958" rIns="121917" bIns="60958" anchor="t">
            <a:spAutoFit/>
          </a:bodyPr>
          <a:lstStyle/>
          <a:p>
            <a:pPr>
              <a:lnSpc>
                <a:spcPct val="120000"/>
              </a:lnSpc>
            </a:pPr>
            <a:r>
              <a:rPr lang="zh-CN" sz="3200" dirty="0" smtClean="0">
                <a:solidFill>
                  <a:schemeClr val="dk1"/>
                </a:solidFill>
                <a:latin typeface="微软雅黑" panose="020B0503020204020204" charset="-122"/>
                <a:ea typeface="微软雅黑" panose="020B0503020204020204" charset="-122"/>
              </a:rPr>
              <a:t>项目需求计算公式</a:t>
            </a:r>
            <a:endParaRPr lang="zh-CN" sz="3200" dirty="0" smtClean="0">
              <a:solidFill>
                <a:schemeClr val="dk1"/>
              </a:solidFill>
              <a:latin typeface="微软雅黑" panose="020B0503020204020204" charset="-122"/>
              <a:ea typeface="微软雅黑" panose="020B0503020204020204" charset="-122"/>
            </a:endParaRPr>
          </a:p>
        </p:txBody>
      </p:sp>
      <p:graphicFrame>
        <p:nvGraphicFramePr>
          <p:cNvPr id="4" name="表格 4"/>
          <p:cNvGraphicFramePr>
            <a:graphicFrameLocks noGrp="1"/>
          </p:cNvGraphicFramePr>
          <p:nvPr>
            <p:custDataLst>
              <p:tags r:id="rId1"/>
            </p:custDataLst>
          </p:nvPr>
        </p:nvGraphicFramePr>
        <p:xfrm>
          <a:off x="330835" y="1174750"/>
          <a:ext cx="11075035" cy="5589905"/>
        </p:xfrm>
        <a:graphic>
          <a:graphicData uri="http://schemas.openxmlformats.org/drawingml/2006/table">
            <a:tbl>
              <a:tblPr firstRow="1" bandRow="1">
                <a:tableStyleId>{7DF18680-E054-41AD-8BC1-D1AEF772440D}</a:tableStyleId>
              </a:tblPr>
              <a:tblGrid>
                <a:gridCol w="730250"/>
                <a:gridCol w="3955415"/>
                <a:gridCol w="4059555"/>
                <a:gridCol w="2329815"/>
              </a:tblGrid>
              <a:tr h="384810">
                <a:tc>
                  <a:txBody>
                    <a:bodyPr/>
                    <a:lstStyle/>
                    <a:p>
                      <a:r>
                        <a:rPr lang="zh-CN" altLang="en-US" sz="1400" dirty="0">
                          <a:latin typeface="微软雅黑" panose="020B0503020204020204" charset="-122"/>
                          <a:ea typeface="微软雅黑" panose="020B0503020204020204" charset="-122"/>
                        </a:rPr>
                        <a:t>序号</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dirty="0">
                          <a:latin typeface="微软雅黑" panose="020B0503020204020204" charset="-122"/>
                          <a:ea typeface="微软雅黑" panose="020B0503020204020204" charset="-122"/>
                        </a:rPr>
                        <a:t>需求说明</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dirty="0">
                          <a:latin typeface="微软雅黑" panose="020B0503020204020204" charset="-122"/>
                          <a:ea typeface="微软雅黑" panose="020B0503020204020204" charset="-122"/>
                        </a:rPr>
                        <a:t>计算公式</a:t>
                      </a:r>
                      <a:endParaRPr lang="zh-CN" altLang="en-US" sz="1400" dirty="0">
                        <a:latin typeface="微软雅黑" panose="020B0503020204020204" charset="-122"/>
                        <a:ea typeface="微软雅黑" panose="020B0503020204020204" charset="-122"/>
                      </a:endParaRPr>
                    </a:p>
                  </a:txBody>
                  <a:tcPr/>
                </a:tc>
                <a:tc>
                  <a:txBody>
                    <a:bodyPr/>
                    <a:p>
                      <a:pPr>
                        <a:buNone/>
                      </a:pPr>
                      <a:r>
                        <a:rPr lang="zh-CN" altLang="en-US" sz="1400" dirty="0">
                          <a:latin typeface="微软雅黑" panose="020B0503020204020204" charset="-122"/>
                          <a:ea typeface="微软雅黑" panose="020B0503020204020204" charset="-122"/>
                        </a:rPr>
                        <a:t>注意事项</a:t>
                      </a:r>
                      <a:endParaRPr lang="zh-CN" altLang="en-US" sz="1400" dirty="0">
                        <a:latin typeface="微软雅黑" panose="020B0503020204020204" charset="-122"/>
                        <a:ea typeface="微软雅黑" panose="020B0503020204020204" charset="-122"/>
                      </a:endParaRPr>
                    </a:p>
                  </a:txBody>
                  <a:tcPr/>
                </a:tc>
              </a:tr>
              <a:tr h="1371600">
                <a:tc>
                  <a:txBody>
                    <a:bodyPr/>
                    <a:lstStyle/>
                    <a:p>
                      <a:pPr algn="ctr"/>
                      <a:r>
                        <a:rPr lang="en-US" altLang="zh-CN" sz="1400" dirty="0">
                          <a:latin typeface="微软雅黑" panose="020B0503020204020204" charset="-122"/>
                          <a:ea typeface="微软雅黑" panose="020B0503020204020204" charset="-122"/>
                        </a:rPr>
                        <a:t>1</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dirty="0">
                          <a:latin typeface="微软雅黑" panose="020B0503020204020204" charset="-122"/>
                          <a:ea typeface="微软雅黑" panose="020B0503020204020204" charset="-122"/>
                          <a:sym typeface="+mn-ea"/>
                        </a:rPr>
                        <a:t>一类：</a:t>
                      </a:r>
                      <a:r>
                        <a:rPr lang="en-US" altLang="zh-CN" sz="1400" dirty="0">
                          <a:latin typeface="微软雅黑" panose="020B0503020204020204" charset="-122"/>
                          <a:ea typeface="微软雅黑" panose="020B0503020204020204" charset="-122"/>
                          <a:sym typeface="+mn-ea"/>
                        </a:rPr>
                        <a:t>1</a:t>
                      </a:r>
                      <a:r>
                        <a:rPr lang="zh-CN" altLang="en-US" sz="1400" dirty="0">
                          <a:latin typeface="微软雅黑" panose="020B0503020204020204" charset="-122"/>
                          <a:ea typeface="微软雅黑" panose="020B0503020204020204" charset="-122"/>
                          <a:sym typeface="+mn-ea"/>
                        </a:rPr>
                        <a:t>、可叠加项目收费封顶，封顶数量按小数点后一位取舍取整</a:t>
                      </a:r>
                      <a:r>
                        <a:rPr lang="en-US" altLang="zh-CN" sz="1400" dirty="0">
                          <a:latin typeface="微软雅黑" panose="020B0503020204020204" charset="-122"/>
                          <a:ea typeface="微软雅黑" panose="020B0503020204020204" charset="-122"/>
                          <a:sym typeface="+mn-ea"/>
                        </a:rPr>
                        <a:t>;</a:t>
                      </a:r>
                      <a:endParaRPr lang="en-US" altLang="zh-CN" sz="1400" b="0" dirty="0">
                        <a:latin typeface="微软雅黑" panose="020B0503020204020204" charset="-122"/>
                        <a:ea typeface="微软雅黑" panose="020B0503020204020204" charset="-122"/>
                      </a:endParaRPr>
                    </a:p>
                    <a:p>
                      <a:endParaRPr lang="en-US" altLang="zh-CN" sz="1400" b="0" dirty="0">
                        <a:latin typeface="微软雅黑" panose="020B0503020204020204" charset="-122"/>
                        <a:ea typeface="微软雅黑" panose="020B0503020204020204" charset="-122"/>
                      </a:endParaRPr>
                    </a:p>
                    <a:p>
                      <a:r>
                        <a:rPr lang="en-US" altLang="zh-CN" sz="1400" dirty="0">
                          <a:latin typeface="微软雅黑" panose="020B0503020204020204" charset="-122"/>
                          <a:ea typeface="微软雅黑" panose="020B0503020204020204" charset="-122"/>
                          <a:sym typeface="+mn-ea"/>
                        </a:rPr>
                        <a:t>2</a:t>
                      </a:r>
                      <a:r>
                        <a:rPr lang="zh-CN" altLang="en-US" sz="1400" dirty="0">
                          <a:latin typeface="微软雅黑" panose="020B0503020204020204" charset="-122"/>
                          <a:ea typeface="微软雅黑" panose="020B0503020204020204" charset="-122"/>
                          <a:sym typeface="+mn-ea"/>
                        </a:rPr>
                        <a:t>、描述同一手术封顶的需要对该项目总条目数量进行封顶，描述单个的按照每条目数量进行封顶，描述每次的按照每自然日数量进行封顶</a:t>
                      </a:r>
                      <a:r>
                        <a:rPr lang="en-US" altLang="zh-CN" sz="1400" dirty="0">
                          <a:latin typeface="微软雅黑" panose="020B0503020204020204" charset="-122"/>
                          <a:ea typeface="微软雅黑" panose="020B0503020204020204" charset="-122"/>
                          <a:sym typeface="+mn-ea"/>
                        </a:rPr>
                        <a:t>;</a:t>
                      </a:r>
                      <a:endParaRPr lang="en-US" altLang="zh-CN" sz="1400" b="0" dirty="0">
                        <a:latin typeface="微软雅黑" panose="020B0503020204020204" charset="-122"/>
                        <a:ea typeface="微软雅黑" panose="020B0503020204020204" charset="-122"/>
                      </a:endParaRPr>
                    </a:p>
                  </a:txBody>
                  <a:tcPr/>
                </a:tc>
                <a:tc>
                  <a:txBody>
                    <a:bodyPr/>
                    <a:lstStyle/>
                    <a:p>
                      <a:r>
                        <a:rPr lang="en-US" sz="1400" b="0" dirty="0">
                          <a:latin typeface="微软雅黑" panose="020B0503020204020204" charset="-122"/>
                          <a:ea typeface="微软雅黑" panose="020B0503020204020204" charset="-122"/>
                        </a:rPr>
                        <a:t>1</a:t>
                      </a:r>
                      <a:r>
                        <a:rPr lang="zh-CN" altLang="en-US" sz="1400" b="0" dirty="0">
                          <a:latin typeface="微软雅黑" panose="020B0503020204020204" charset="-122"/>
                          <a:ea typeface="微软雅黑" panose="020B0503020204020204" charset="-122"/>
                        </a:rPr>
                        <a:t>、收费计价方式：单价</a:t>
                      </a:r>
                      <a:r>
                        <a:rPr lang="en-US" altLang="zh-CN" sz="1400" b="0" dirty="0">
                          <a:latin typeface="微软雅黑" panose="020B0503020204020204" charset="-122"/>
                          <a:ea typeface="微软雅黑" panose="020B0503020204020204" charset="-122"/>
                        </a:rPr>
                        <a:t>*</a:t>
                      </a:r>
                      <a:r>
                        <a:rPr lang="zh-CN" altLang="en-US" sz="1400" b="0" dirty="0">
                          <a:latin typeface="微软雅黑" panose="020B0503020204020204" charset="-122"/>
                          <a:ea typeface="微软雅黑" panose="020B0503020204020204" charset="-122"/>
                        </a:rPr>
                        <a:t>实际治疗数量</a:t>
                      </a:r>
                      <a:r>
                        <a:rPr lang="en-US" altLang="zh-CN" sz="1400" b="0" dirty="0">
                          <a:latin typeface="微软雅黑" panose="020B0503020204020204" charset="-122"/>
                          <a:ea typeface="微软雅黑" panose="020B0503020204020204" charset="-122"/>
                        </a:rPr>
                        <a:t>(</a:t>
                      </a:r>
                      <a:r>
                        <a:rPr lang="zh-CN" altLang="en-US" sz="1400" b="0" dirty="0">
                          <a:latin typeface="微软雅黑" panose="020B0503020204020204" charset="-122"/>
                          <a:ea typeface="微软雅黑" panose="020B0503020204020204" charset="-122"/>
                        </a:rPr>
                        <a:t>收费上限额</a:t>
                      </a:r>
                      <a:r>
                        <a:rPr lang="en-US" altLang="zh-CN" sz="1400" b="0" dirty="0">
                          <a:latin typeface="微软雅黑" panose="020B0503020204020204" charset="-122"/>
                          <a:ea typeface="微软雅黑" panose="020B0503020204020204" charset="-122"/>
                        </a:rPr>
                        <a:t>/</a:t>
                      </a:r>
                      <a:r>
                        <a:rPr lang="zh-CN" altLang="en-US" sz="1400" b="0" dirty="0">
                          <a:latin typeface="微软雅黑" panose="020B0503020204020204" charset="-122"/>
                          <a:ea typeface="微软雅黑" panose="020B0503020204020204" charset="-122"/>
                        </a:rPr>
                        <a:t>单价</a:t>
                      </a:r>
                      <a:r>
                        <a:rPr lang="en-US" altLang="zh-CN" sz="1400" b="0" dirty="0">
                          <a:latin typeface="微软雅黑" panose="020B0503020204020204" charset="-122"/>
                          <a:ea typeface="微软雅黑" panose="020B0503020204020204" charset="-122"/>
                        </a:rPr>
                        <a:t>=</a:t>
                      </a:r>
                      <a:r>
                        <a:rPr lang="zh-CN" altLang="en-US" sz="1400" b="0" dirty="0">
                          <a:latin typeface="微软雅黑" panose="020B0503020204020204" charset="-122"/>
                          <a:ea typeface="微软雅黑" panose="020B0503020204020204" charset="-122"/>
                        </a:rPr>
                        <a:t>数量）</a:t>
                      </a:r>
                      <a:endParaRPr lang="zh-CN" altLang="en-US" sz="1400" b="0" dirty="0">
                        <a:latin typeface="微软雅黑" panose="020B0503020204020204" charset="-122"/>
                        <a:ea typeface="微软雅黑" panose="020B0503020204020204" charset="-122"/>
                      </a:endParaRPr>
                    </a:p>
                    <a:p>
                      <a:endParaRPr lang="zh-CN" altLang="en-US" sz="1400" b="0" dirty="0">
                        <a:latin typeface="微软雅黑" panose="020B0503020204020204" charset="-122"/>
                        <a:ea typeface="微软雅黑" panose="020B0503020204020204" charset="-122"/>
                      </a:endParaRPr>
                    </a:p>
                    <a:p>
                      <a:endParaRPr lang="en-US" altLang="zh-CN" sz="1400" b="0" dirty="0">
                        <a:latin typeface="微软雅黑" panose="020B0503020204020204" charset="-122"/>
                        <a:ea typeface="微软雅黑" panose="020B0503020204020204" charset="-122"/>
                      </a:endParaRPr>
                    </a:p>
                  </a:txBody>
                  <a:tcPr/>
                </a:tc>
                <a:tc>
                  <a:txBody>
                    <a:bodyPr/>
                    <a:p>
                      <a:pPr>
                        <a:buNone/>
                      </a:pPr>
                      <a:r>
                        <a:rPr lang="zh-CN" altLang="en-US" sz="1400" b="0" dirty="0">
                          <a:latin typeface="微软雅黑" panose="020B0503020204020204" charset="-122"/>
                          <a:ea typeface="微软雅黑" panose="020B0503020204020204" charset="-122"/>
                        </a:rPr>
                        <a:t>封顶数量按小数点后一位取舍取整</a:t>
                      </a:r>
                      <a:endParaRPr lang="zh-CN" altLang="en-US" sz="1400" b="0" dirty="0">
                        <a:latin typeface="微软雅黑" panose="020B0503020204020204" charset="-122"/>
                        <a:ea typeface="微软雅黑" panose="020B0503020204020204" charset="-122"/>
                      </a:endParaRPr>
                    </a:p>
                  </a:txBody>
                  <a:tcPr/>
                </a:tc>
              </a:tr>
              <a:tr h="1798320">
                <a:tc>
                  <a:txBody>
                    <a:bodyPr/>
                    <a:lstStyle/>
                    <a:p>
                      <a:pPr algn="ctr"/>
                      <a:r>
                        <a:rPr lang="en-US" altLang="zh-CN" sz="1400" dirty="0">
                          <a:latin typeface="微软雅黑" panose="020B0503020204020204" charset="-122"/>
                          <a:ea typeface="微软雅黑" panose="020B0503020204020204" charset="-122"/>
                        </a:rPr>
                        <a:t>2</a:t>
                      </a:r>
                      <a:endParaRPr lang="zh-CN" altLang="en-US" sz="1400" dirty="0">
                        <a:latin typeface="微软雅黑" panose="020B0503020204020204" charset="-122"/>
                        <a:ea typeface="微软雅黑" panose="020B050302020402020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latin typeface="微软雅黑" panose="020B0503020204020204" charset="-122"/>
                          <a:ea typeface="微软雅黑" panose="020B0503020204020204" charset="-122"/>
                        </a:rPr>
                        <a:t>二类：</a:t>
                      </a:r>
                      <a:r>
                        <a:rPr kumimoji="1" lang="en-US" altLang="zh-CN" sz="1400" dirty="0">
                          <a:latin typeface="微软雅黑" panose="020B0503020204020204" charset="-122"/>
                          <a:ea typeface="微软雅黑" panose="020B0503020204020204" charset="-122"/>
                          <a:sym typeface="+mn-ea"/>
                        </a:rPr>
                        <a:t>1</a:t>
                      </a:r>
                      <a:r>
                        <a:rPr kumimoji="1" lang="zh-CN" altLang="en-US" sz="1400" dirty="0">
                          <a:latin typeface="微软雅黑" panose="020B0503020204020204" charset="-122"/>
                          <a:ea typeface="微软雅黑" panose="020B0503020204020204" charset="-122"/>
                          <a:sym typeface="+mn-ea"/>
                        </a:rPr>
                        <a:t>、临床输入平方厘米、厘米自动转化为项目收费计价单位数量</a:t>
                      </a:r>
                      <a:r>
                        <a:rPr kumimoji="1" lang="en-US" altLang="zh-CN" sz="1400" dirty="0">
                          <a:latin typeface="微软雅黑" panose="020B0503020204020204" charset="-122"/>
                          <a:ea typeface="微软雅黑" panose="020B0503020204020204" charset="-122"/>
                          <a:sym typeface="+mn-ea"/>
                        </a:rPr>
                        <a:t>(</a:t>
                      </a:r>
                      <a:r>
                        <a:rPr kumimoji="1" lang="zh-CN" altLang="en-US" sz="1400" dirty="0">
                          <a:latin typeface="微软雅黑" panose="020B0503020204020204" charset="-122"/>
                          <a:ea typeface="微软雅黑" panose="020B0503020204020204" charset="-122"/>
                          <a:sym typeface="+mn-ea"/>
                        </a:rPr>
                        <a:t>部分项目区分头面部和躯干部按平方厘米换算的公式不同，每增加平方厘米之间和每增加厘米的公式不同，具体按照文件项目说明规则</a:t>
                      </a:r>
                      <a:r>
                        <a:rPr kumimoji="1" lang="en-US" altLang="zh-CN" sz="1400" dirty="0">
                          <a:latin typeface="微软雅黑" panose="020B0503020204020204" charset="-122"/>
                          <a:ea typeface="微软雅黑" panose="020B0503020204020204" charset="-122"/>
                          <a:sym typeface="+mn-ea"/>
                        </a:rPr>
                        <a:t>):</a:t>
                      </a:r>
                      <a:endParaRPr kumimoji="1" lang="en-US" altLang="zh-CN" sz="1400"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zh-CN" sz="1400"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dirty="0">
                          <a:latin typeface="微软雅黑" panose="020B0503020204020204" charset="-122"/>
                          <a:ea typeface="微软雅黑" panose="020B0503020204020204" charset="-122"/>
                          <a:sym typeface="+mn-ea"/>
                        </a:rPr>
                        <a:t>2</a:t>
                      </a:r>
                      <a:r>
                        <a:rPr kumimoji="1" lang="zh-CN" altLang="en-US" sz="1400" dirty="0">
                          <a:latin typeface="微软雅黑" panose="020B0503020204020204" charset="-122"/>
                          <a:ea typeface="微软雅黑" panose="020B0503020204020204" charset="-122"/>
                          <a:sym typeface="+mn-ea"/>
                        </a:rPr>
                        <a:t>、存在每个按</a:t>
                      </a:r>
                      <a:r>
                        <a:rPr kumimoji="1" lang="en-US" altLang="zh-CN" sz="1400" dirty="0">
                          <a:latin typeface="微软雅黑" panose="020B0503020204020204" charset="-122"/>
                          <a:ea typeface="微软雅黑" panose="020B0503020204020204" charset="-122"/>
                          <a:sym typeface="+mn-ea"/>
                        </a:rPr>
                        <a:t>144</a:t>
                      </a:r>
                      <a:r>
                        <a:rPr kumimoji="1" lang="zh-CN" altLang="en-US" sz="1400" dirty="0">
                          <a:latin typeface="微软雅黑" panose="020B0503020204020204" charset="-122"/>
                          <a:ea typeface="微软雅黑" panose="020B0503020204020204" charset="-122"/>
                          <a:sym typeface="+mn-ea"/>
                        </a:rPr>
                        <a:t>平方厘米或</a:t>
                      </a:r>
                      <a:r>
                        <a:rPr kumimoji="1" lang="en-US" altLang="zh-CN" sz="1400" dirty="0">
                          <a:latin typeface="微软雅黑" panose="020B0503020204020204" charset="-122"/>
                          <a:ea typeface="微软雅黑" panose="020B0503020204020204" charset="-122"/>
                          <a:sym typeface="+mn-ea"/>
                        </a:rPr>
                        <a:t>1%</a:t>
                      </a:r>
                      <a:r>
                        <a:rPr kumimoji="1" lang="zh-CN" altLang="en-US" sz="1400" dirty="0">
                          <a:latin typeface="微软雅黑" panose="020B0503020204020204" charset="-122"/>
                          <a:ea typeface="微软雅黑" panose="020B0503020204020204" charset="-122"/>
                          <a:sym typeface="+mn-ea"/>
                        </a:rPr>
                        <a:t>体表面积为基础计价的说明选择按照</a:t>
                      </a:r>
                      <a:r>
                        <a:rPr kumimoji="1" lang="en-US" altLang="zh-CN" sz="1400" dirty="0">
                          <a:latin typeface="微软雅黑" panose="020B0503020204020204" charset="-122"/>
                          <a:ea typeface="微软雅黑" panose="020B0503020204020204" charset="-122"/>
                          <a:sym typeface="+mn-ea"/>
                        </a:rPr>
                        <a:t>144</a:t>
                      </a:r>
                      <a:r>
                        <a:rPr kumimoji="1" lang="zh-CN" altLang="en-US" sz="1400" dirty="0">
                          <a:latin typeface="微软雅黑" panose="020B0503020204020204" charset="-122"/>
                          <a:ea typeface="微软雅黑" panose="020B0503020204020204" charset="-122"/>
                          <a:sym typeface="+mn-ea"/>
                        </a:rPr>
                        <a:t>平方厘米为公式计算</a:t>
                      </a:r>
                      <a:r>
                        <a:rPr kumimoji="1" lang="en-US" altLang="zh-CN" sz="1400" dirty="0">
                          <a:latin typeface="微软雅黑" panose="020B0503020204020204" charset="-122"/>
                          <a:ea typeface="微软雅黑" panose="020B0503020204020204" charset="-122"/>
                          <a:sym typeface="+mn-ea"/>
                        </a:rPr>
                        <a:t>:</a:t>
                      </a:r>
                      <a:endParaRPr lang="en-US" altLang="zh-CN" sz="1400" dirty="0">
                        <a:latin typeface="微软雅黑" panose="020B0503020204020204" charset="-122"/>
                        <a:ea typeface="微软雅黑" panose="020B050302020402020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dirty="0">
                          <a:latin typeface="微软雅黑" panose="020B0503020204020204" charset="-122"/>
                          <a:ea typeface="微软雅黑" panose="020B0503020204020204" charset="-122"/>
                        </a:rPr>
                        <a:t>1</a:t>
                      </a:r>
                      <a:r>
                        <a:rPr kumimoji="1" lang="zh-CN" altLang="en-US" sz="1400" dirty="0">
                          <a:latin typeface="微软雅黑" panose="020B0503020204020204" charset="-122"/>
                          <a:ea typeface="微软雅黑" panose="020B0503020204020204" charset="-122"/>
                        </a:rPr>
                        <a:t>、收费计价方式：（单价）</a:t>
                      </a:r>
                      <a:r>
                        <a:rPr kumimoji="1" lang="en-US" altLang="zh-CN" sz="1400" dirty="0">
                          <a:latin typeface="微软雅黑" panose="020B0503020204020204" charset="-122"/>
                          <a:ea typeface="微软雅黑" panose="020B0503020204020204" charset="-122"/>
                        </a:rPr>
                        <a:t>*[</a:t>
                      </a:r>
                      <a:r>
                        <a:rPr kumimoji="1" lang="zh-CN" altLang="en-US" sz="1400" dirty="0">
                          <a:latin typeface="微软雅黑" panose="020B0503020204020204" charset="-122"/>
                          <a:ea typeface="微软雅黑" panose="020B0503020204020204" charset="-122"/>
                        </a:rPr>
                        <a:t>实际治疗数量（不超过收费上限数量）</a:t>
                      </a:r>
                      <a:r>
                        <a:rPr kumimoji="1" lang="en-US" altLang="zh-CN" sz="1400" dirty="0">
                          <a:latin typeface="微软雅黑" panose="020B0503020204020204" charset="-122"/>
                          <a:ea typeface="微软雅黑" panose="020B0503020204020204" charset="-122"/>
                        </a:rPr>
                        <a:t>=(N-1)*0.5+1]</a:t>
                      </a:r>
                      <a:r>
                        <a:rPr kumimoji="1" lang="zh-CN" altLang="en-US" sz="1400" dirty="0">
                          <a:latin typeface="微软雅黑" panose="020B0503020204020204" charset="-122"/>
                          <a:ea typeface="微软雅黑" panose="020B0503020204020204" charset="-122"/>
                        </a:rPr>
                        <a:t>；</a:t>
                      </a:r>
                      <a:endParaRPr kumimoji="1" lang="zh-CN" altLang="en-US" sz="1400"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1400"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dirty="0">
                          <a:latin typeface="微软雅黑" panose="020B0503020204020204" charset="-122"/>
                          <a:ea typeface="微软雅黑" panose="020B0503020204020204" charset="-122"/>
                        </a:rPr>
                        <a:t>2</a:t>
                      </a:r>
                      <a:r>
                        <a:rPr kumimoji="1" lang="zh-CN" altLang="en-US" sz="1400" dirty="0">
                          <a:latin typeface="微软雅黑" panose="020B0503020204020204" charset="-122"/>
                          <a:ea typeface="微软雅黑" panose="020B0503020204020204" charset="-122"/>
                        </a:rPr>
                        <a:t>、收费计价方式：（单价）</a:t>
                      </a:r>
                      <a:r>
                        <a:rPr kumimoji="1" lang="en-US" altLang="zh-CN" sz="1400" dirty="0">
                          <a:latin typeface="微软雅黑" panose="020B0503020204020204" charset="-122"/>
                          <a:ea typeface="微软雅黑" panose="020B0503020204020204" charset="-122"/>
                        </a:rPr>
                        <a:t>*[</a:t>
                      </a:r>
                      <a:r>
                        <a:rPr kumimoji="1" lang="zh-CN" altLang="en-US" sz="1400" dirty="0">
                          <a:latin typeface="微软雅黑" panose="020B0503020204020204" charset="-122"/>
                          <a:ea typeface="微软雅黑" panose="020B0503020204020204" charset="-122"/>
                        </a:rPr>
                        <a:t>实际治疗数量</a:t>
                      </a:r>
                      <a:r>
                        <a:rPr kumimoji="1" lang="zh-CN" altLang="en-US" sz="1400" dirty="0">
                          <a:latin typeface="微软雅黑" panose="020B0503020204020204" charset="-122"/>
                          <a:ea typeface="微软雅黑" panose="020B0503020204020204" charset="-122"/>
                          <a:sym typeface="+mn-ea"/>
                        </a:rPr>
                        <a:t>（不超过收费上限数量）</a:t>
                      </a:r>
                      <a:r>
                        <a:rPr kumimoji="1" lang="en-US" altLang="zh-CN" sz="1400" dirty="0">
                          <a:latin typeface="微软雅黑" panose="020B0503020204020204" charset="-122"/>
                          <a:ea typeface="微软雅黑" panose="020B0503020204020204" charset="-122"/>
                        </a:rPr>
                        <a:t>=(N-1)*0.7+1]</a:t>
                      </a:r>
                      <a:r>
                        <a:rPr kumimoji="1" lang="zh-CN" altLang="en-US" sz="1400" dirty="0">
                          <a:latin typeface="微软雅黑" panose="020B0503020204020204" charset="-122"/>
                          <a:ea typeface="微软雅黑" panose="020B0503020204020204" charset="-122"/>
                        </a:rPr>
                        <a:t>，</a:t>
                      </a:r>
                      <a:endParaRPr kumimoji="1" lang="zh-CN" altLang="en-US" sz="1400" dirty="0">
                        <a:latin typeface="微软雅黑" panose="020B0503020204020204" charset="-122"/>
                        <a:ea typeface="微软雅黑" panose="020B0503020204020204" charset="-122"/>
                      </a:endParaRPr>
                    </a:p>
                  </a:txBody>
                  <a:tcPr/>
                </a:tc>
                <a:tc>
                  <a:txBody>
                    <a:bodyPr/>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dirty="0">
                          <a:latin typeface="微软雅黑" panose="020B0503020204020204" charset="-122"/>
                          <a:ea typeface="微软雅黑" panose="020B0503020204020204" charset="-122"/>
                        </a:rPr>
                        <a:t>1</a:t>
                      </a:r>
                      <a:r>
                        <a:rPr kumimoji="1" lang="zh-CN" altLang="en-US" sz="1400" dirty="0">
                          <a:latin typeface="微软雅黑" panose="020B0503020204020204" charset="-122"/>
                          <a:ea typeface="微软雅黑" panose="020B0503020204020204" charset="-122"/>
                        </a:rPr>
                        <a:t>、收费上限数量</a:t>
                      </a:r>
                      <a:r>
                        <a:rPr kumimoji="1" lang="en-US" altLang="zh-CN" sz="1400" dirty="0">
                          <a:latin typeface="微软雅黑" panose="020B0503020204020204" charset="-122"/>
                          <a:ea typeface="微软雅黑" panose="020B0503020204020204" charset="-122"/>
                        </a:rPr>
                        <a:t>=</a:t>
                      </a:r>
                      <a:r>
                        <a:rPr kumimoji="1" lang="zh-CN" altLang="en-US" sz="1400" dirty="0">
                          <a:latin typeface="微软雅黑" panose="020B0503020204020204" charset="-122"/>
                          <a:ea typeface="微软雅黑" panose="020B0503020204020204" charset="-122"/>
                        </a:rPr>
                        <a:t>收费上限额</a:t>
                      </a:r>
                      <a:r>
                        <a:rPr kumimoji="1" lang="en-US" altLang="zh-CN" sz="1400" dirty="0">
                          <a:latin typeface="微软雅黑" panose="020B0503020204020204" charset="-122"/>
                          <a:ea typeface="微软雅黑" panose="020B0503020204020204" charset="-122"/>
                        </a:rPr>
                        <a:t>/</a:t>
                      </a:r>
                      <a:r>
                        <a:rPr kumimoji="1" lang="zh-CN" altLang="en-US" sz="1400" dirty="0">
                          <a:latin typeface="微软雅黑" panose="020B0503020204020204" charset="-122"/>
                          <a:ea typeface="微软雅黑" panose="020B0503020204020204" charset="-122"/>
                        </a:rPr>
                        <a:t>单价；</a:t>
                      </a:r>
                      <a:endParaRPr kumimoji="1" lang="zh-CN" altLang="en-US" sz="1400"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dirty="0">
                          <a:latin typeface="微软雅黑" panose="020B0503020204020204" charset="-122"/>
                          <a:ea typeface="微软雅黑" panose="020B0503020204020204" charset="-122"/>
                        </a:rPr>
                        <a:t>2</a:t>
                      </a:r>
                      <a:r>
                        <a:rPr kumimoji="1" lang="zh-CN" altLang="en-US" sz="1400" dirty="0">
                          <a:latin typeface="微软雅黑" panose="020B0503020204020204" charset="-122"/>
                          <a:ea typeface="微软雅黑" panose="020B0503020204020204" charset="-122"/>
                        </a:rPr>
                        <a:t>、</a:t>
                      </a:r>
                      <a:r>
                        <a:rPr kumimoji="1" lang="en-US" altLang="zh-CN" sz="1400" dirty="0">
                          <a:latin typeface="微软雅黑" panose="020B0503020204020204" charset="-122"/>
                          <a:ea typeface="微软雅黑" panose="020B0503020204020204" charset="-122"/>
                        </a:rPr>
                        <a:t>N</a:t>
                      </a:r>
                      <a:r>
                        <a:rPr kumimoji="1" lang="zh-CN" altLang="en-US" sz="1400" dirty="0">
                          <a:latin typeface="微软雅黑" panose="020B0503020204020204" charset="-122"/>
                          <a:ea typeface="微软雅黑" panose="020B0503020204020204" charset="-122"/>
                        </a:rPr>
                        <a:t>代表实际治疗的数量；</a:t>
                      </a:r>
                      <a:endParaRPr kumimoji="1" lang="zh-CN" altLang="en-US" sz="1400"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dirty="0">
                          <a:latin typeface="微软雅黑" panose="020B0503020204020204" charset="-122"/>
                          <a:ea typeface="微软雅黑" panose="020B0503020204020204" charset="-122"/>
                        </a:rPr>
                        <a:t>3</a:t>
                      </a:r>
                      <a:r>
                        <a:rPr kumimoji="1" lang="zh-CN" altLang="en-US" sz="1400" dirty="0">
                          <a:latin typeface="微软雅黑" panose="020B0503020204020204" charset="-122"/>
                          <a:ea typeface="微软雅黑" panose="020B0503020204020204" charset="-122"/>
                        </a:rPr>
                        <a:t>、数量换算，输入面积</a:t>
                      </a:r>
                      <a:r>
                        <a:rPr kumimoji="1" lang="en-US" altLang="zh-CN" sz="1400" dirty="0">
                          <a:latin typeface="微软雅黑" panose="020B0503020204020204" charset="-122"/>
                          <a:ea typeface="微软雅黑" panose="020B0503020204020204" charset="-122"/>
                        </a:rPr>
                        <a:t>/</a:t>
                      </a:r>
                      <a:r>
                        <a:rPr kumimoji="1" lang="zh-CN" altLang="en-US" sz="1400" dirty="0">
                          <a:latin typeface="微软雅黑" panose="020B0503020204020204" charset="-122"/>
                          <a:ea typeface="微软雅黑" panose="020B0503020204020204" charset="-122"/>
                        </a:rPr>
                        <a:t>长度换算数量；</a:t>
                      </a:r>
                      <a:endParaRPr kumimoji="1" lang="zh-CN" altLang="en-US" sz="1400"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dirty="0">
                          <a:latin typeface="微软雅黑" panose="020B0503020204020204" charset="-122"/>
                          <a:ea typeface="微软雅黑" panose="020B0503020204020204" charset="-122"/>
                        </a:rPr>
                        <a:t>4</a:t>
                      </a:r>
                      <a:r>
                        <a:rPr kumimoji="1" lang="zh-CN" altLang="en-US" sz="1400" dirty="0">
                          <a:latin typeface="微软雅黑" panose="020B0503020204020204" charset="-122"/>
                          <a:ea typeface="微软雅黑" panose="020B0503020204020204" charset="-122"/>
                        </a:rPr>
                        <a:t>、输入大小，按规则转换收费基础价数量</a:t>
                      </a:r>
                      <a:endParaRPr kumimoji="1" lang="zh-CN" altLang="en-US" sz="1400" dirty="0">
                        <a:latin typeface="微软雅黑" panose="020B0503020204020204" charset="-122"/>
                        <a:ea typeface="微软雅黑" panose="020B0503020204020204" charset="-122"/>
                      </a:endParaRPr>
                    </a:p>
                  </a:txBody>
                  <a:tcPr/>
                </a:tc>
              </a:tr>
              <a:tr h="518160">
                <a:tc>
                  <a:txBody>
                    <a:bodyPr/>
                    <a:lstStyle/>
                    <a:p>
                      <a:pPr algn="ctr"/>
                      <a:r>
                        <a:rPr lang="en-US" altLang="zh-CN" sz="1400" dirty="0">
                          <a:latin typeface="微软雅黑" panose="020B0503020204020204" charset="-122"/>
                          <a:ea typeface="微软雅黑" panose="020B0503020204020204" charset="-122"/>
                        </a:rPr>
                        <a:t>3</a:t>
                      </a:r>
                      <a:endParaRPr lang="zh-CN" altLang="en-US" sz="1400" dirty="0">
                        <a:latin typeface="微软雅黑" panose="020B0503020204020204" charset="-122"/>
                        <a:ea typeface="微软雅黑" panose="020B050302020402020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latin typeface="微软雅黑" panose="020B0503020204020204" charset="-122"/>
                          <a:ea typeface="微软雅黑" panose="020B0503020204020204" charset="-122"/>
                        </a:rPr>
                        <a:t>三类：</a:t>
                      </a:r>
                      <a:r>
                        <a:rPr kumimoji="1" lang="zh-CN" altLang="en-US" sz="1400" dirty="0">
                          <a:latin typeface="微软雅黑" panose="020B0503020204020204" charset="-122"/>
                          <a:ea typeface="微软雅黑" panose="020B0503020204020204" charset="-122"/>
                          <a:sym typeface="+mn-ea"/>
                        </a:rPr>
                        <a:t>救护车转运费项目按照每公里数为单位计价后总数自动</a:t>
                      </a:r>
                      <a:r>
                        <a:rPr kumimoji="1" lang="en-US" altLang="zh-CN" sz="1400" dirty="0">
                          <a:latin typeface="微软雅黑" panose="020B0503020204020204" charset="-122"/>
                          <a:ea typeface="微软雅黑" panose="020B0503020204020204" charset="-122"/>
                          <a:sym typeface="+mn-ea"/>
                        </a:rPr>
                        <a:t>+55</a:t>
                      </a:r>
                      <a:r>
                        <a:rPr kumimoji="1" lang="zh-CN" altLang="en-US" sz="1400" dirty="0">
                          <a:latin typeface="微软雅黑" panose="020B0503020204020204" charset="-122"/>
                          <a:ea typeface="微软雅黑" panose="020B0503020204020204" charset="-122"/>
                          <a:sym typeface="+mn-ea"/>
                        </a:rPr>
                        <a:t>元基础费用</a:t>
                      </a:r>
                      <a:r>
                        <a:rPr kumimoji="1" lang="en-US" altLang="zh-CN" sz="1400" dirty="0">
                          <a:latin typeface="微软雅黑" panose="020B0503020204020204" charset="-122"/>
                          <a:ea typeface="微软雅黑" panose="020B0503020204020204" charset="-122"/>
                          <a:sym typeface="+mn-ea"/>
                        </a:rPr>
                        <a:t>;</a:t>
                      </a:r>
                      <a:endParaRPr lang="zh-CN" altLang="en-US" sz="1400" dirty="0">
                        <a:latin typeface="微软雅黑" panose="020B0503020204020204" charset="-122"/>
                        <a:ea typeface="微软雅黑" panose="020B050302020402020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400" dirty="0">
                          <a:latin typeface="微软雅黑" panose="020B0503020204020204" charset="-122"/>
                          <a:ea typeface="微软雅黑" panose="020B0503020204020204" charset="-122"/>
                        </a:rPr>
                        <a:t>1</a:t>
                      </a:r>
                      <a:r>
                        <a:rPr kumimoji="1" lang="zh-CN" altLang="en-US" sz="1400" dirty="0">
                          <a:latin typeface="微软雅黑" panose="020B0503020204020204" charset="-122"/>
                          <a:ea typeface="微软雅黑" panose="020B0503020204020204" charset="-122"/>
                        </a:rPr>
                        <a:t>、收费计价公式：（单价）</a:t>
                      </a:r>
                      <a:r>
                        <a:rPr kumimoji="1" lang="en-US" altLang="zh-CN" sz="1400" dirty="0">
                          <a:latin typeface="微软雅黑" panose="020B0503020204020204" charset="-122"/>
                          <a:ea typeface="微软雅黑" panose="020B0503020204020204" charset="-122"/>
                        </a:rPr>
                        <a:t>*</a:t>
                      </a:r>
                      <a:r>
                        <a:rPr kumimoji="1" lang="zh-CN" altLang="en-US" sz="1400" dirty="0">
                          <a:latin typeface="微软雅黑" panose="020B0503020204020204" charset="-122"/>
                          <a:ea typeface="微软雅黑" panose="020B0503020204020204" charset="-122"/>
                        </a:rPr>
                        <a:t>数量</a:t>
                      </a:r>
                      <a:r>
                        <a:rPr kumimoji="1" lang="en-US" altLang="zh-CN" sz="1400" dirty="0">
                          <a:latin typeface="微软雅黑" panose="020B0503020204020204" charset="-122"/>
                          <a:ea typeface="微软雅黑" panose="020B0503020204020204" charset="-122"/>
                        </a:rPr>
                        <a:t>+</a:t>
                      </a:r>
                      <a:r>
                        <a:rPr kumimoji="1" lang="zh-CN" altLang="en-US" sz="1400" dirty="0">
                          <a:latin typeface="微软雅黑" panose="020B0503020204020204" charset="-122"/>
                          <a:ea typeface="微软雅黑" panose="020B0503020204020204" charset="-122"/>
                        </a:rPr>
                        <a:t>基础服务价</a:t>
                      </a:r>
                      <a:endParaRPr kumimoji="1" lang="zh-CN" altLang="en-US" sz="1400" dirty="0">
                        <a:latin typeface="微软雅黑" panose="020B0503020204020204" charset="-122"/>
                        <a:ea typeface="微软雅黑" panose="020B0503020204020204" charset="-122"/>
                      </a:endParaRPr>
                    </a:p>
                  </a:txBody>
                  <a:tcPr/>
                </a:tc>
                <a:tc>
                  <a: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zh-CN" sz="1400" dirty="0">
                        <a:latin typeface="微软雅黑" panose="020B0503020204020204" charset="-122"/>
                        <a:ea typeface="微软雅黑" panose="020B0503020204020204" charset="-122"/>
                      </a:endParaRPr>
                    </a:p>
                  </a:txBody>
                  <a:tcPr/>
                </a:tc>
              </a:tr>
              <a:tr h="758825">
                <a:tc>
                  <a:txBody>
                    <a:bodyPr/>
                    <a:lstStyle/>
                    <a:p>
                      <a:pPr algn="ctr"/>
                      <a:r>
                        <a:rPr lang="en-US" altLang="zh-CN" sz="1400" dirty="0">
                          <a:latin typeface="微软雅黑" panose="020B0503020204020204" charset="-122"/>
                          <a:ea typeface="微软雅黑" panose="020B0503020204020204" charset="-122"/>
                        </a:rPr>
                        <a:t>4</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dirty="0">
                          <a:latin typeface="微软雅黑" panose="020B0503020204020204" charset="-122"/>
                          <a:ea typeface="微软雅黑" panose="020B0503020204020204" charset="-122"/>
                        </a:rPr>
                        <a:t>四类：门诊诊查费总金额由多个收费条目组成，增加中医门诊诊查费、药师门诊诊查费和护理门诊诊查费等</a:t>
                      </a:r>
                      <a:r>
                        <a:rPr lang="en-US" altLang="zh-CN" sz="1400" dirty="0">
                          <a:latin typeface="微软雅黑" panose="020B0503020204020204" charset="-122"/>
                          <a:ea typeface="微软雅黑" panose="020B0503020204020204" charset="-122"/>
                        </a:rPr>
                        <a:t>;</a:t>
                      </a:r>
                      <a:endParaRPr lang="en-US" altLang="zh-CN" sz="1400" dirty="0">
                        <a:latin typeface="微软雅黑" panose="020B0503020204020204" charset="-122"/>
                        <a:ea typeface="微软雅黑" panose="020B0503020204020204" charset="-122"/>
                      </a:endParaRPr>
                    </a:p>
                  </a:txBody>
                  <a:tcPr/>
                </a:tc>
                <a:tc>
                  <a:txBody>
                    <a:bodyPr/>
                    <a:lstStyle/>
                    <a:p>
                      <a:r>
                        <a:rPr lang="en-US" altLang="zh-CN" sz="1400" dirty="0">
                          <a:latin typeface="微软雅黑" panose="020B0503020204020204" charset="-122"/>
                          <a:ea typeface="微软雅黑" panose="020B0503020204020204" charset="-122"/>
                        </a:rPr>
                        <a:t>/</a:t>
                      </a:r>
                      <a:endParaRPr lang="en-US" altLang="zh-CN" sz="1400" dirty="0">
                        <a:latin typeface="微软雅黑" panose="020B0503020204020204" charset="-122"/>
                        <a:ea typeface="微软雅黑" panose="020B0503020204020204" charset="-122"/>
                      </a:endParaRPr>
                    </a:p>
                  </a:txBody>
                  <a:tcPr/>
                </a:tc>
                <a:tc>
                  <a:txBody>
                    <a:bodyPr/>
                    <a:p>
                      <a:pPr>
                        <a:buNone/>
                      </a:pPr>
                      <a:r>
                        <a:rPr lang="en-US" altLang="zh-CN" sz="1400" dirty="0">
                          <a:latin typeface="微软雅黑" panose="020B0503020204020204" charset="-122"/>
                          <a:ea typeface="微软雅黑" panose="020B0503020204020204" charset="-122"/>
                        </a:rPr>
                        <a:t>/</a:t>
                      </a:r>
                      <a:endParaRPr lang="en-US" altLang="zh-CN" sz="1400" dirty="0">
                        <a:latin typeface="微软雅黑" panose="020B0503020204020204" charset="-122"/>
                        <a:ea typeface="微软雅黑" panose="020B0503020204020204" charset="-122"/>
                      </a:endParaRPr>
                    </a:p>
                  </a:txBody>
                  <a:tcPr/>
                </a:tc>
              </a:tr>
              <a:tr h="758190">
                <a:tc>
                  <a:txBody>
                    <a:bodyPr/>
                    <a:lstStyle/>
                    <a:p>
                      <a:pPr algn="ctr"/>
                      <a:r>
                        <a:rPr lang="en-US" altLang="zh-CN" sz="1400" dirty="0">
                          <a:latin typeface="微软雅黑" panose="020B0503020204020204" charset="-122"/>
                          <a:ea typeface="微软雅黑" panose="020B0503020204020204" charset="-122"/>
                        </a:rPr>
                        <a:t>5</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dirty="0">
                          <a:latin typeface="微软雅黑" panose="020B0503020204020204" charset="-122"/>
                          <a:ea typeface="微软雅黑" panose="020B0503020204020204" charset="-122"/>
                        </a:rPr>
                        <a:t>五类：院内会诊费分三个等级收取。</a:t>
                      </a:r>
                      <a:endParaRPr lang="zh-CN" altLang="en-US" sz="1400" dirty="0">
                        <a:latin typeface="微软雅黑" panose="020B0503020204020204" charset="-122"/>
                        <a:ea typeface="微软雅黑" panose="020B0503020204020204"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微软雅黑" panose="020B0503020204020204" charset="-122"/>
                          <a:ea typeface="微软雅黑" panose="020B0503020204020204" charset="-122"/>
                        </a:rPr>
                        <a:t>/</a:t>
                      </a:r>
                      <a:endParaRPr lang="en-US" altLang="zh-CN" sz="1400" dirty="0">
                        <a:latin typeface="微软雅黑" panose="020B0503020204020204" charset="-122"/>
                        <a:ea typeface="微软雅黑" panose="020B0503020204020204" charset="-122"/>
                      </a:endParaRPr>
                    </a:p>
                  </a:txBody>
                  <a:tcP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latin typeface="微软雅黑" panose="020B0503020204020204" charset="-122"/>
                          <a:ea typeface="微软雅黑" panose="020B0503020204020204" charset="-122"/>
                        </a:rPr>
                        <a:t>/</a:t>
                      </a:r>
                      <a:endParaRPr lang="en-US" altLang="zh-CN" sz="1400" dirty="0">
                        <a:latin typeface="微软雅黑" panose="020B0503020204020204" charset="-122"/>
                        <a:ea typeface="微软雅黑" panose="020B0503020204020204" charset="-122"/>
                      </a:endParaRPr>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流程图: 手动输入 1"/>
          <p:cNvSpPr/>
          <p:nvPr/>
        </p:nvSpPr>
        <p:spPr>
          <a:xfrm rot="5400000">
            <a:off x="461963" y="39688"/>
            <a:ext cx="595312" cy="1524000"/>
          </a:xfrm>
          <a:prstGeom prst="flowChartManualInput">
            <a:avLst/>
          </a:prstGeom>
          <a:solidFill>
            <a:srgbClr val="C00000"/>
          </a:solidFill>
          <a:ln w="12700">
            <a:noFill/>
          </a:ln>
        </p:spPr>
        <p:txBody>
          <a:bodyPr anchor="ctr"/>
          <a:lstStyle/>
          <a:p>
            <a:pPr indent="0" algn="ctr"/>
            <a:endParaRPr lang="zh-CN" altLang="zh-CN">
              <a:solidFill>
                <a:srgbClr val="FFFFFF"/>
              </a:solidFill>
              <a:latin typeface="Arial" panose="020B0604020202020204" pitchFamily="34" charset="0"/>
              <a:ea typeface="宋体" panose="02010600030101010101" pitchFamily="2" charset="-122"/>
            </a:endParaRPr>
          </a:p>
        </p:txBody>
      </p:sp>
      <p:sp>
        <p:nvSpPr>
          <p:cNvPr id="3" name="文本框 2"/>
          <p:cNvSpPr txBox="1"/>
          <p:nvPr/>
        </p:nvSpPr>
        <p:spPr>
          <a:xfrm>
            <a:off x="1387475" y="417195"/>
            <a:ext cx="4064000" cy="681990"/>
          </a:xfrm>
          <a:prstGeom prst="rect">
            <a:avLst/>
          </a:prstGeom>
          <a:noFill/>
        </p:spPr>
        <p:txBody>
          <a:bodyPr wrap="square" rtlCol="0">
            <a:spAutoFit/>
          </a:bodyPr>
          <a:p>
            <a:pPr>
              <a:lnSpc>
                <a:spcPct val="120000"/>
              </a:lnSpc>
            </a:pPr>
            <a:r>
              <a:rPr lang="zh-CN" altLang="en-US" sz="3200">
                <a:latin typeface="微软雅黑" panose="020B0503020204020204" charset="-122"/>
                <a:ea typeface="微软雅黑" panose="020B0503020204020204" charset="-122"/>
              </a:rPr>
              <a:t>业务处理流程图</a:t>
            </a:r>
            <a:endParaRPr lang="zh-CN" altLang="en-US" sz="3200">
              <a:latin typeface="微软雅黑" panose="020B0503020204020204" charset="-122"/>
              <a:ea typeface="微软雅黑" panose="020B0503020204020204" charset="-122"/>
            </a:endParaRPr>
          </a:p>
        </p:txBody>
      </p:sp>
      <p:pic>
        <p:nvPicPr>
          <p:cNvPr id="7" name="图片 6"/>
          <p:cNvPicPr>
            <a:picLocks noChangeAspect="1"/>
          </p:cNvPicPr>
          <p:nvPr/>
        </p:nvPicPr>
        <p:blipFill>
          <a:blip r:embed="rId1"/>
          <a:stretch>
            <a:fillRect/>
          </a:stretch>
        </p:blipFill>
        <p:spPr>
          <a:xfrm>
            <a:off x="1657350" y="1099185"/>
            <a:ext cx="7140575" cy="55194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流程图: 手动输入 1"/>
          <p:cNvSpPr/>
          <p:nvPr/>
        </p:nvSpPr>
        <p:spPr>
          <a:xfrm rot="5400000">
            <a:off x="461963" y="39688"/>
            <a:ext cx="595312" cy="1524000"/>
          </a:xfrm>
          <a:prstGeom prst="flowChartManualInput">
            <a:avLst/>
          </a:prstGeom>
          <a:solidFill>
            <a:srgbClr val="C00000"/>
          </a:solidFill>
          <a:ln w="12700">
            <a:noFill/>
          </a:ln>
        </p:spPr>
        <p:txBody>
          <a:bodyPr anchor="ctr"/>
          <a:lstStyle/>
          <a:p>
            <a:pPr indent="0" algn="ctr"/>
            <a:endParaRPr lang="zh-CN" altLang="zh-CN">
              <a:solidFill>
                <a:srgbClr val="FFFFFF"/>
              </a:solidFill>
              <a:latin typeface="Arial" panose="020B0604020202020204" pitchFamily="34" charset="0"/>
              <a:ea typeface="宋体" panose="02010600030101010101" pitchFamily="2" charset="-122"/>
            </a:endParaRPr>
          </a:p>
        </p:txBody>
      </p:sp>
      <p:sp>
        <p:nvSpPr>
          <p:cNvPr id="1048657" name="TextBox 17"/>
          <p:cNvSpPr/>
          <p:nvPr/>
        </p:nvSpPr>
        <p:spPr>
          <a:xfrm>
            <a:off x="1376998" y="387985"/>
            <a:ext cx="1868170" cy="711200"/>
          </a:xfrm>
          <a:prstGeom prst="rect">
            <a:avLst/>
          </a:prstGeom>
          <a:noFill/>
          <a:ln w="9525">
            <a:noFill/>
          </a:ln>
        </p:spPr>
        <p:txBody>
          <a:bodyPr wrap="none" lIns="121917" tIns="60958" rIns="121917" bIns="60958" anchor="t">
            <a:spAutoFit/>
          </a:bodyPr>
          <a:lstStyle/>
          <a:p>
            <a:pPr>
              <a:lnSpc>
                <a:spcPct val="120000"/>
              </a:lnSpc>
            </a:pPr>
            <a:r>
              <a:rPr lang="zh-CN" sz="3200" dirty="0" smtClean="0">
                <a:solidFill>
                  <a:schemeClr val="dk1"/>
                </a:solidFill>
                <a:latin typeface="微软雅黑" panose="020B0503020204020204" charset="-122"/>
                <a:ea typeface="微软雅黑" panose="020B0503020204020204" charset="-122"/>
              </a:rPr>
              <a:t>计价参数</a:t>
            </a:r>
            <a:endParaRPr lang="zh-CN" sz="3200" dirty="0" smtClean="0">
              <a:solidFill>
                <a:schemeClr val="dk1"/>
              </a:solidFill>
              <a:latin typeface="微软雅黑" panose="020B0503020204020204" charset="-122"/>
              <a:ea typeface="微软雅黑" panose="020B0503020204020204" charset="-122"/>
            </a:endParaRPr>
          </a:p>
        </p:txBody>
      </p:sp>
      <p:graphicFrame>
        <p:nvGraphicFramePr>
          <p:cNvPr id="4" name="表格 4"/>
          <p:cNvGraphicFramePr>
            <a:graphicFrameLocks noGrp="1"/>
          </p:cNvGraphicFramePr>
          <p:nvPr/>
        </p:nvGraphicFramePr>
        <p:xfrm>
          <a:off x="330835" y="1429385"/>
          <a:ext cx="10205222" cy="5333365"/>
        </p:xfrm>
        <a:graphic>
          <a:graphicData uri="http://schemas.openxmlformats.org/drawingml/2006/table">
            <a:tbl>
              <a:tblPr firstRow="1" bandRow="1">
                <a:tableStyleId>{7DF18680-E054-41AD-8BC1-D1AEF772440D}</a:tableStyleId>
              </a:tblPr>
              <a:tblGrid>
                <a:gridCol w="594360"/>
                <a:gridCol w="902456"/>
                <a:gridCol w="1011828"/>
                <a:gridCol w="996020"/>
                <a:gridCol w="1158240"/>
                <a:gridCol w="1054735"/>
                <a:gridCol w="2603917"/>
                <a:gridCol w="1883666"/>
              </a:tblGrid>
              <a:tr h="468630">
                <a:tc>
                  <a:txBody>
                    <a:bodyPr/>
                    <a:lstStyle/>
                    <a:p>
                      <a:r>
                        <a:rPr lang="zh-CN" altLang="en-US" sz="1400" dirty="0">
                          <a:latin typeface="微软雅黑" panose="020B0503020204020204" charset="-122"/>
                          <a:ea typeface="微软雅黑" panose="020B0503020204020204" charset="-122"/>
                        </a:rPr>
                        <a:t>序号</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dirty="0">
                          <a:latin typeface="微软雅黑" panose="020B0503020204020204" charset="-122"/>
                          <a:ea typeface="微软雅黑" panose="020B0503020204020204" charset="-122"/>
                        </a:rPr>
                        <a:t>计价类型</a:t>
                      </a:r>
                      <a:endParaRPr lang="zh-CN" altLang="en-US" sz="1400" dirty="0">
                        <a:latin typeface="微软雅黑" panose="020B0503020204020204" charset="-122"/>
                        <a:ea typeface="微软雅黑" panose="020B0503020204020204" charset="-122"/>
                      </a:endParaRPr>
                    </a:p>
                  </a:txBody>
                  <a:tcPr/>
                </a:tc>
                <a:tc>
                  <a:txBody>
                    <a:bodyPr/>
                    <a:lstStyle/>
                    <a:p>
                      <a:r>
                        <a:rPr lang="zh-CN" altLang="en-US" sz="1400" dirty="0">
                          <a:latin typeface="微软雅黑" panose="020B0503020204020204" charset="-122"/>
                          <a:ea typeface="微软雅黑" panose="020B0503020204020204" charset="-122"/>
                        </a:rPr>
                        <a:t>计价部位</a:t>
                      </a:r>
                      <a:endParaRPr lang="zh-CN" altLang="en-US" sz="1400" dirty="0">
                        <a:latin typeface="微软雅黑" panose="020B0503020204020204" charset="-122"/>
                        <a:ea typeface="微软雅黑" panose="020B0503020204020204" charset="-122"/>
                      </a:endParaRPr>
                    </a:p>
                  </a:txBody>
                  <a:tcPr/>
                </a:tc>
                <a:tc>
                  <a:txBody>
                    <a:bodyPr/>
                    <a:p>
                      <a:pPr>
                        <a:buNone/>
                      </a:pPr>
                      <a:r>
                        <a:rPr lang="zh-CN" altLang="en-US" sz="1400" dirty="0">
                          <a:latin typeface="微软雅黑" panose="020B0503020204020204" charset="-122"/>
                          <a:ea typeface="微软雅黑" panose="020B0503020204020204" charset="-122"/>
                        </a:rPr>
                        <a:t>单位</a:t>
                      </a:r>
                      <a:endParaRPr lang="zh-CN" altLang="en-US" sz="1400" dirty="0">
                        <a:latin typeface="微软雅黑" panose="020B0503020204020204" charset="-122"/>
                        <a:ea typeface="微软雅黑" panose="020B0503020204020204" charset="-122"/>
                      </a:endParaRPr>
                    </a:p>
                  </a:txBody>
                  <a:tcPr/>
                </a:tc>
                <a:tc>
                  <a:txBody>
                    <a:bodyPr/>
                    <a:p>
                      <a:pPr>
                        <a:buNone/>
                      </a:pPr>
                      <a:r>
                        <a:rPr lang="zh-CN" altLang="en-US" sz="1400" dirty="0">
                          <a:latin typeface="微软雅黑" panose="020B0503020204020204" charset="-122"/>
                          <a:ea typeface="微软雅黑" panose="020B0503020204020204" charset="-122"/>
                          <a:sym typeface="+mn-ea"/>
                        </a:rPr>
                        <a:t>基础计价量</a:t>
                      </a:r>
                      <a:endParaRPr lang="zh-CN" altLang="en-US" sz="1400" dirty="0">
                        <a:latin typeface="微软雅黑" panose="020B0503020204020204" charset="-122"/>
                        <a:ea typeface="微软雅黑" panose="020B0503020204020204" charset="-122"/>
                      </a:endParaRPr>
                    </a:p>
                  </a:txBody>
                  <a:tcPr/>
                </a:tc>
                <a:tc>
                  <a:txBody>
                    <a:bodyPr/>
                    <a:p>
                      <a:pPr>
                        <a:buNone/>
                      </a:pPr>
                      <a:r>
                        <a:rPr lang="zh-CN" altLang="en-US" sz="1400" dirty="0">
                          <a:latin typeface="微软雅黑" panose="020B0503020204020204" charset="-122"/>
                          <a:ea typeface="微软雅黑" panose="020B0503020204020204" charset="-122"/>
                        </a:rPr>
                        <a:t>计价数量</a:t>
                      </a:r>
                      <a:endParaRPr lang="zh-CN" altLang="en-US" sz="1400" dirty="0">
                        <a:latin typeface="微软雅黑" panose="020B0503020204020204" charset="-122"/>
                        <a:ea typeface="微软雅黑" panose="020B0503020204020204" charset="-122"/>
                      </a:endParaRPr>
                    </a:p>
                  </a:txBody>
                  <a:tcPr/>
                </a:tc>
                <a:tc>
                  <a:txBody>
                    <a:bodyPr/>
                    <a:p>
                      <a:pPr>
                        <a:buNone/>
                      </a:pPr>
                      <a:r>
                        <a:rPr lang="zh-CN" altLang="en-US" sz="1400" dirty="0">
                          <a:latin typeface="微软雅黑" panose="020B0503020204020204" charset="-122"/>
                          <a:ea typeface="微软雅黑" panose="020B0503020204020204" charset="-122"/>
                        </a:rPr>
                        <a:t>计价公式</a:t>
                      </a:r>
                      <a:endParaRPr lang="zh-CN" altLang="en-US" sz="1400" dirty="0">
                        <a:latin typeface="微软雅黑" panose="020B0503020204020204" charset="-122"/>
                        <a:ea typeface="微软雅黑" panose="020B0503020204020204" charset="-122"/>
                      </a:endParaRPr>
                    </a:p>
                  </a:txBody>
                  <a:tcPr/>
                </a:tc>
                <a:tc>
                  <a:txBody>
                    <a:bodyPr/>
                    <a:p>
                      <a:pPr>
                        <a:buNone/>
                      </a:pPr>
                      <a:r>
                        <a:rPr lang="zh-CN" altLang="en-US" sz="1400" dirty="0">
                          <a:latin typeface="微软雅黑" panose="020B0503020204020204" charset="-122"/>
                          <a:ea typeface="微软雅黑" panose="020B0503020204020204" charset="-122"/>
                        </a:rPr>
                        <a:t>备注</a:t>
                      </a:r>
                      <a:endParaRPr lang="zh-CN" altLang="en-US" sz="1400" dirty="0">
                        <a:latin typeface="微软雅黑" panose="020B0503020204020204" charset="-122"/>
                        <a:ea typeface="微软雅黑" panose="020B0503020204020204" charset="-122"/>
                      </a:endParaRPr>
                    </a:p>
                  </a:txBody>
                  <a:tcPr/>
                </a:tc>
              </a:tr>
              <a:tr h="477520">
                <a:tc>
                  <a:txBody>
                    <a:bodyPr/>
                    <a:lstStyle/>
                    <a:p>
                      <a:pPr algn="ctr"/>
                      <a:r>
                        <a:rPr lang="en-US" altLang="zh-CN" sz="1400" dirty="0">
                          <a:latin typeface="微软雅黑" panose="020B0503020204020204" charset="-122"/>
                          <a:ea typeface="微软雅黑" panose="020B0503020204020204" charset="-122"/>
                        </a:rPr>
                        <a:t>1</a:t>
                      </a:r>
                      <a:endParaRPr lang="zh-CN" altLang="en-US" sz="1400" dirty="0">
                        <a:latin typeface="微软雅黑" panose="020B0503020204020204" charset="-122"/>
                        <a:ea typeface="微软雅黑" panose="020B0503020204020204" charset="-122"/>
                      </a:endParaRPr>
                    </a:p>
                  </a:txBody>
                  <a:tcPr>
                    <a:solidFill>
                      <a:schemeClr val="accent5">
                        <a:lumMod val="40000"/>
                        <a:lumOff val="60000"/>
                      </a:schemeClr>
                    </a:solidFill>
                  </a:tcPr>
                </a:tc>
                <a:tc rowSpan="3">
                  <a:txBody>
                    <a:bodyPr/>
                    <a:lstStyle/>
                    <a:p>
                      <a:pPr algn="l">
                        <a:buClrTx/>
                        <a:buSzTx/>
                        <a:buFontTx/>
                      </a:pPr>
                      <a:r>
                        <a:rPr lang="en-US" altLang="zh-CN" sz="1400" b="0" i="0" dirty="0">
                          <a:latin typeface="微软雅黑" panose="020B0503020204020204" charset="-122"/>
                          <a:ea typeface="微软雅黑" panose="020B0503020204020204" charset="-122"/>
                        </a:rPr>
                        <a:t>面积</a:t>
                      </a:r>
                      <a:endParaRPr lang="en-US" altLang="zh-CN" sz="1400" b="0" i="0" dirty="0">
                        <a:latin typeface="微软雅黑" panose="020B0503020204020204" charset="-122"/>
                        <a:ea typeface="微软雅黑" panose="020B0503020204020204" charset="-122"/>
                      </a:endParaRPr>
                    </a:p>
                  </a:txBody>
                  <a:tcPr marL="7937" marR="7937" marT="7937" marB="0" anchor="ctr" anchorCtr="0">
                    <a:gradFill>
                      <a:gsLst>
                        <a:gs pos="0">
                          <a:schemeClr val="bg1">
                            <a:lumMod val="95000"/>
                          </a:schemeClr>
                        </a:gs>
                        <a:gs pos="53000">
                          <a:schemeClr val="bg1">
                            <a:lumMod val="85000"/>
                          </a:schemeClr>
                        </a:gs>
                        <a:gs pos="100000">
                          <a:schemeClr val="bg1">
                            <a:lumMod val="75000"/>
                          </a:schemeClr>
                        </a:gs>
                      </a:gsLst>
                      <a:lin ang="5400000" scaled="1"/>
                    </a:gradFill>
                  </a:tcPr>
                </a:tc>
                <a:tc rowSpan="3">
                  <a:txBody>
                    <a:bodyPr/>
                    <a:lstStyle/>
                    <a:p>
                      <a:pPr algn="l">
                        <a:buClrTx/>
                        <a:buSzTx/>
                        <a:buFontTx/>
                      </a:pPr>
                      <a:r>
                        <a:rPr lang="en-US" altLang="zh-CN" sz="1400" b="0" i="0" dirty="0">
                          <a:latin typeface="微软雅黑" panose="020B0503020204020204" charset="-122"/>
                          <a:ea typeface="微软雅黑" panose="020B0503020204020204" charset="-122"/>
                        </a:rPr>
                        <a:t>表皮</a:t>
                      </a:r>
                      <a:endParaRPr lang="en-US" altLang="zh-CN" sz="1400" b="0" i="0" dirty="0">
                        <a:latin typeface="微软雅黑" panose="020B0503020204020204" charset="-122"/>
                        <a:ea typeface="微软雅黑" panose="020B0503020204020204" charset="-122"/>
                      </a:endParaRPr>
                    </a:p>
                  </a:txBody>
                  <a:tcPr marL="7937" marR="7937" marT="7937" marB="0" anchor="ctr" anchorCtr="0">
                    <a:gradFill>
                      <a:gsLst>
                        <a:gs pos="0">
                          <a:schemeClr val="bg1">
                            <a:lumMod val="95000"/>
                          </a:schemeClr>
                        </a:gs>
                        <a:gs pos="53000">
                          <a:schemeClr val="bg1">
                            <a:lumMod val="85000"/>
                          </a:schemeClr>
                        </a:gs>
                        <a:gs pos="100000">
                          <a:schemeClr val="bg1">
                            <a:lumMod val="75000"/>
                          </a:schemeClr>
                        </a:gs>
                      </a:gsLst>
                      <a:lin ang="5400000" scaled="1"/>
                    </a:gradFill>
                  </a:tcPr>
                </a:tc>
                <a:tc>
                  <a:txBody>
                    <a:bodyPr/>
                    <a:p>
                      <a:pPr algn="l">
                        <a:buClrTx/>
                        <a:buSzTx/>
                        <a:buFontTx/>
                      </a:pPr>
                      <a:r>
                        <a:rPr lang="en-US" altLang="zh-CN" sz="1400" b="0" i="0" dirty="0">
                          <a:latin typeface="微软雅黑" panose="020B0503020204020204" charset="-122"/>
                          <a:ea typeface="微软雅黑" panose="020B0503020204020204" charset="-122"/>
                        </a:rPr>
                        <a:t>1%体表面积</a:t>
                      </a:r>
                      <a:endParaRPr lang="en-US" altLang="zh-CN" sz="1400" b="0" i="0" dirty="0">
                        <a:latin typeface="微软雅黑" panose="020B0503020204020204" charset="-122"/>
                        <a:ea typeface="微软雅黑" panose="020B0503020204020204" charset="-122"/>
                      </a:endParaRPr>
                    </a:p>
                  </a:txBody>
                  <a:tcPr marL="7937" marR="7937" marT="7937" marB="0" anchor="ctr" anchorCtr="0">
                    <a:gradFill>
                      <a:gsLst>
                        <a:gs pos="0">
                          <a:schemeClr val="bg1">
                            <a:lumMod val="95000"/>
                          </a:schemeClr>
                        </a:gs>
                        <a:gs pos="53000">
                          <a:schemeClr val="bg1">
                            <a:lumMod val="85000"/>
                          </a:schemeClr>
                        </a:gs>
                        <a:gs pos="100000">
                          <a:schemeClr val="bg1">
                            <a:lumMod val="75000"/>
                          </a:schemeClr>
                        </a:gs>
                      </a:gsLst>
                      <a:lin ang="5400000" scaled="1"/>
                    </a:gradFill>
                  </a:tcPr>
                </a:tc>
                <a:tc rowSpan="11">
                  <a:txBody>
                    <a:bodyPr/>
                    <a:p>
                      <a:pPr algn="l">
                        <a:buClrTx/>
                        <a:buSzTx/>
                        <a:buFontTx/>
                        <a:buNone/>
                      </a:pPr>
                      <a:r>
                        <a:rPr lang="en-US" altLang="zh-CN" sz="1400" b="0" i="0" dirty="0">
                          <a:latin typeface="微软雅黑" panose="020B0503020204020204" charset="-122"/>
                          <a:ea typeface="微软雅黑" panose="020B0503020204020204" charset="-122"/>
                        </a:rPr>
                        <a:t>输入基础计量，维护多少计量为1个计价数量。</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5">
                        <a:lumMod val="40000"/>
                        <a:lumOff val="60000"/>
                      </a:schemeClr>
                    </a:solidFill>
                  </a:tcPr>
                </a:tc>
                <a:tc rowSpan="11">
                  <a:txBody>
                    <a:bodyPr/>
                    <a:p>
                      <a:pPr>
                        <a:buNone/>
                      </a:pPr>
                      <a:endParaRPr lang="en-US" altLang="zh-CN" sz="1400" b="0" dirty="0">
                        <a:latin typeface="微软雅黑" panose="020B0503020204020204" charset="-122"/>
                        <a:ea typeface="微软雅黑" panose="020B0503020204020204" charset="-122"/>
                        <a:sym typeface="等线" panose="02010600030101010101" charset="-122"/>
                      </a:endParaRPr>
                    </a:p>
                    <a:p>
                      <a:pPr>
                        <a:buNone/>
                      </a:pPr>
                      <a:endParaRPr lang="en-US" altLang="zh-CN" sz="1400" b="0" dirty="0">
                        <a:latin typeface="微软雅黑" panose="020B0503020204020204" charset="-122"/>
                        <a:ea typeface="微软雅黑" panose="020B0503020204020204" charset="-122"/>
                        <a:sym typeface="等线" panose="02010600030101010101" charset="-122"/>
                      </a:endParaRPr>
                    </a:p>
                    <a:p>
                      <a:pPr>
                        <a:buNone/>
                      </a:pPr>
                      <a:endParaRPr lang="en-US" altLang="zh-CN" sz="1400" b="0" dirty="0">
                        <a:latin typeface="微软雅黑" panose="020B0503020204020204" charset="-122"/>
                        <a:ea typeface="微软雅黑" panose="020B0503020204020204" charset="-122"/>
                        <a:sym typeface="等线" panose="02010600030101010101" charset="-122"/>
                      </a:endParaRPr>
                    </a:p>
                    <a:p>
                      <a:pPr>
                        <a:buNone/>
                      </a:pPr>
                      <a:endParaRPr lang="en-US" altLang="zh-CN" sz="1400" b="0" dirty="0">
                        <a:latin typeface="微软雅黑" panose="020B0503020204020204" charset="-122"/>
                        <a:ea typeface="微软雅黑" panose="020B0503020204020204" charset="-122"/>
                        <a:sym typeface="等线" panose="02010600030101010101" charset="-122"/>
                      </a:endParaRPr>
                    </a:p>
                    <a:p>
                      <a:pPr>
                        <a:buNone/>
                      </a:pPr>
                      <a:endParaRPr lang="en-US" altLang="zh-CN" sz="1400" b="0" dirty="0">
                        <a:latin typeface="微软雅黑" panose="020B0503020204020204" charset="-122"/>
                        <a:ea typeface="微软雅黑" panose="020B0503020204020204" charset="-122"/>
                        <a:sym typeface="等线" panose="02010600030101010101" charset="-122"/>
                      </a:endParaRPr>
                    </a:p>
                    <a:p>
                      <a:pPr>
                        <a:buNone/>
                      </a:pPr>
                      <a:endParaRPr lang="en-US" altLang="zh-CN" sz="1400" b="0" dirty="0">
                        <a:latin typeface="微软雅黑" panose="020B0503020204020204" charset="-122"/>
                        <a:ea typeface="微软雅黑" panose="020B0503020204020204" charset="-122"/>
                        <a:sym typeface="等线" panose="02010600030101010101" charset="-122"/>
                      </a:endParaRPr>
                    </a:p>
                    <a:p>
                      <a:pPr>
                        <a:buNone/>
                      </a:pPr>
                      <a:endParaRPr lang="en-US" altLang="zh-CN" sz="1400" b="0" dirty="0">
                        <a:latin typeface="微软雅黑" panose="020B0503020204020204" charset="-122"/>
                        <a:ea typeface="微软雅黑" panose="020B0503020204020204" charset="-122"/>
                        <a:sym typeface="等线" panose="02010600030101010101" charset="-122"/>
                      </a:endParaRPr>
                    </a:p>
                    <a:p>
                      <a:pPr>
                        <a:buNone/>
                      </a:pPr>
                      <a:endParaRPr lang="en-US" altLang="zh-CN" sz="1400" b="0" dirty="0">
                        <a:latin typeface="微软雅黑" panose="020B0503020204020204" charset="-122"/>
                        <a:ea typeface="微软雅黑" panose="020B0503020204020204" charset="-122"/>
                        <a:sym typeface="等线" panose="02010600030101010101" charset="-122"/>
                      </a:endParaRPr>
                    </a:p>
                    <a:p>
                      <a:pPr>
                        <a:buNone/>
                      </a:pPr>
                      <a:endParaRPr lang="en-US" altLang="zh-CN" sz="1400" b="0" dirty="0">
                        <a:latin typeface="微软雅黑" panose="020B0503020204020204" charset="-122"/>
                        <a:ea typeface="微软雅黑" panose="020B0503020204020204" charset="-122"/>
                        <a:sym typeface="等线" panose="02010600030101010101" charset="-122"/>
                      </a:endParaRPr>
                    </a:p>
                    <a:p>
                      <a:pPr>
                        <a:buNone/>
                      </a:pPr>
                      <a:endParaRPr lang="en-US" altLang="zh-CN" sz="1400" b="0" dirty="0">
                        <a:latin typeface="微软雅黑" panose="020B0503020204020204" charset="-122"/>
                        <a:ea typeface="微软雅黑" panose="020B0503020204020204" charset="-122"/>
                        <a:sym typeface="等线" panose="02010600030101010101" charset="-122"/>
                      </a:endParaRPr>
                    </a:p>
                    <a:p>
                      <a:pPr>
                        <a:buNone/>
                      </a:pPr>
                      <a:r>
                        <a:rPr lang="en-US" altLang="zh-CN" sz="1400" b="0" dirty="0">
                          <a:latin typeface="微软雅黑" panose="020B0503020204020204" charset="-122"/>
                          <a:ea typeface="微软雅黑" panose="020B0503020204020204" charset="-122"/>
                          <a:sym typeface="等线" panose="02010600030101010101" charset="-122"/>
                        </a:rPr>
                        <a:t>1</a:t>
                      </a:r>
                      <a:r>
                        <a:rPr lang="zh-CN" altLang="en-US" sz="1400" b="0" dirty="0">
                          <a:latin typeface="微软雅黑" panose="020B0503020204020204" charset="-122"/>
                          <a:ea typeface="微软雅黑" panose="020B0503020204020204" charset="-122"/>
                          <a:sym typeface="等线" panose="02010600030101010101" charset="-122"/>
                        </a:rPr>
                        <a:t>（默认）</a:t>
                      </a:r>
                      <a:endParaRPr lang="zh-CN" altLang="en-US" sz="1400" b="0" dirty="0">
                        <a:latin typeface="微软雅黑" panose="020B0503020204020204" charset="-122"/>
                        <a:ea typeface="微软雅黑" panose="020B0503020204020204" charset="-122"/>
                      </a:endParaRPr>
                    </a:p>
                  </a:txBody>
                  <a:tcPr>
                    <a:solidFill>
                      <a:schemeClr val="accent5">
                        <a:lumMod val="40000"/>
                        <a:lumOff val="60000"/>
                      </a:schemeClr>
                    </a:solidFill>
                  </a:tcPr>
                </a:tc>
                <a:tc rowSpan="11">
                  <a:txBody>
                    <a:bodyPr/>
                    <a:p>
                      <a:pPr algn="l">
                        <a:buNone/>
                      </a:pPr>
                      <a:endParaRPr lang="zh-CN" altLang="en-US" sz="1400" b="0" dirty="0">
                        <a:latin typeface="微软雅黑" panose="020B0503020204020204" charset="-122"/>
                        <a:ea typeface="微软雅黑" panose="020B0503020204020204" charset="-122"/>
                      </a:endParaRPr>
                    </a:p>
                    <a:p>
                      <a:pPr algn="l">
                        <a:buNone/>
                      </a:pPr>
                      <a:endParaRPr lang="en-US" altLang="en-US" sz="1400">
                        <a:latin typeface="微软雅黑" panose="020B0503020204020204" charset="-122"/>
                        <a:ea typeface="微软雅黑" panose="020B0503020204020204" charset="-122"/>
                        <a:cs typeface="微软雅黑" panose="020B0503020204020204" charset="-122"/>
                        <a:sym typeface="+mn-ea"/>
                      </a:endParaRPr>
                    </a:p>
                    <a:p>
                      <a:pPr algn="l">
                        <a:buNone/>
                      </a:pPr>
                      <a:endParaRPr lang="en-US" altLang="en-US" sz="1400">
                        <a:latin typeface="微软雅黑" panose="020B0503020204020204" charset="-122"/>
                        <a:ea typeface="微软雅黑" panose="020B0503020204020204" charset="-122"/>
                        <a:cs typeface="微软雅黑" panose="020B0503020204020204" charset="-122"/>
                        <a:sym typeface="+mn-ea"/>
                      </a:endParaRPr>
                    </a:p>
                    <a:p>
                      <a:pPr algn="l">
                        <a:buNone/>
                      </a:pPr>
                      <a:endParaRPr lang="en-US" altLang="en-US" sz="1400">
                        <a:latin typeface="微软雅黑" panose="020B0503020204020204" charset="-122"/>
                        <a:ea typeface="微软雅黑" panose="020B0503020204020204" charset="-122"/>
                        <a:cs typeface="微软雅黑" panose="020B0503020204020204" charset="-122"/>
                        <a:sym typeface="+mn-ea"/>
                      </a:endParaRPr>
                    </a:p>
                    <a:p>
                      <a:pPr algn="l">
                        <a:buNone/>
                      </a:pPr>
                      <a:endParaRPr lang="en-US" altLang="en-US" sz="1400">
                        <a:latin typeface="微软雅黑" panose="020B0503020204020204" charset="-122"/>
                        <a:ea typeface="微软雅黑" panose="020B0503020204020204" charset="-122"/>
                        <a:cs typeface="微软雅黑" panose="020B0503020204020204" charset="-122"/>
                        <a:sym typeface="+mn-ea"/>
                      </a:endParaRPr>
                    </a:p>
                    <a:p>
                      <a:pPr algn="l">
                        <a:buNone/>
                      </a:pPr>
                      <a:endParaRPr lang="en-US" altLang="en-US" sz="1400">
                        <a:latin typeface="微软雅黑" panose="020B0503020204020204" charset="-122"/>
                        <a:ea typeface="微软雅黑" panose="020B0503020204020204" charset="-122"/>
                        <a:cs typeface="微软雅黑" panose="020B0503020204020204" charset="-122"/>
                        <a:sym typeface="+mn-ea"/>
                      </a:endParaRPr>
                    </a:p>
                    <a:p>
                      <a:pPr algn="l">
                        <a:buNone/>
                      </a:pPr>
                      <a:r>
                        <a:rPr lang="en-US" altLang="en-US" sz="1400">
                          <a:latin typeface="微软雅黑" panose="020B0503020204020204" charset="-122"/>
                          <a:ea typeface="微软雅黑" panose="020B0503020204020204" charset="-122"/>
                          <a:cs typeface="微软雅黑" panose="020B0503020204020204" charset="-122"/>
                          <a:sym typeface="+mn-ea"/>
                        </a:rPr>
                        <a:t>①</a:t>
                      </a:r>
                      <a:r>
                        <a:rPr lang="zh-CN" altLang="en-US" sz="1400">
                          <a:latin typeface="微软雅黑" panose="020B0503020204020204" charset="-122"/>
                          <a:ea typeface="微软雅黑" panose="020B0503020204020204" charset="-122"/>
                          <a:cs typeface="微软雅黑" panose="020B0503020204020204" charset="-122"/>
                          <a:sym typeface="+mn-ea"/>
                        </a:rPr>
                        <a:t>收费金额</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sym typeface="+mn-ea"/>
                        </a:rPr>
                        <a:t>单价</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sym typeface="+mn-ea"/>
                        </a:rPr>
                        <a:t>数量</a:t>
                      </a:r>
                      <a:endParaRPr lang="zh-CN" altLang="en-US" sz="1400">
                        <a:latin typeface="微软雅黑" panose="020B0503020204020204" charset="-122"/>
                        <a:ea typeface="微软雅黑" panose="020B0503020204020204" charset="-122"/>
                        <a:cs typeface="微软雅黑" panose="020B0503020204020204" charset="-122"/>
                      </a:endParaRPr>
                    </a:p>
                    <a:p>
                      <a:pPr algn="l">
                        <a:buNone/>
                      </a:pPr>
                      <a:r>
                        <a:rPr lang="en-US" altLang="en-US" sz="1400">
                          <a:latin typeface="微软雅黑" panose="020B0503020204020204" charset="-122"/>
                          <a:ea typeface="微软雅黑" panose="020B0503020204020204" charset="-122"/>
                          <a:cs typeface="微软雅黑" panose="020B0503020204020204" charset="-122"/>
                          <a:sym typeface="+mn-ea"/>
                        </a:rPr>
                        <a:t>②</a:t>
                      </a:r>
                      <a:r>
                        <a:rPr lang="zh-CN" altLang="en-US" sz="1400">
                          <a:latin typeface="微软雅黑" panose="020B0503020204020204" charset="-122"/>
                          <a:ea typeface="微软雅黑" panose="020B0503020204020204" charset="-122"/>
                          <a:cs typeface="微软雅黑" panose="020B0503020204020204" charset="-122"/>
                          <a:sym typeface="+mn-ea"/>
                        </a:rPr>
                        <a:t>收费金额</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sym typeface="+mn-ea"/>
                        </a:rPr>
                        <a:t>单价</a:t>
                      </a:r>
                      <a:r>
                        <a:rPr lang="en-US" altLang="zh-CN" sz="1400">
                          <a:latin typeface="微软雅黑" panose="020B0503020204020204" charset="-122"/>
                          <a:ea typeface="微软雅黑" panose="020B0503020204020204" charset="-122"/>
                          <a:cs typeface="微软雅黑" panose="020B0503020204020204" charset="-122"/>
                          <a:sym typeface="+mn-ea"/>
                        </a:rPr>
                        <a:t>*[(N-1)*0.5+1]</a:t>
                      </a:r>
                      <a:endParaRPr lang="en-US" altLang="zh-CN" sz="1400">
                        <a:latin typeface="微软雅黑" panose="020B0503020204020204" charset="-122"/>
                        <a:ea typeface="微软雅黑" panose="020B0503020204020204" charset="-122"/>
                        <a:cs typeface="微软雅黑" panose="020B0503020204020204" charset="-122"/>
                      </a:endParaRPr>
                    </a:p>
                    <a:p>
                      <a:pPr algn="l">
                        <a:buNone/>
                      </a:pPr>
                      <a:r>
                        <a:rPr lang="en-US" altLang="en-US" sz="1400">
                          <a:latin typeface="微软雅黑" panose="020B0503020204020204" charset="-122"/>
                          <a:ea typeface="微软雅黑" panose="020B0503020204020204" charset="-122"/>
                          <a:cs typeface="微软雅黑" panose="020B0503020204020204" charset="-122"/>
                          <a:sym typeface="+mn-ea"/>
                        </a:rPr>
                        <a:t>③</a:t>
                      </a:r>
                      <a:r>
                        <a:rPr lang="zh-CN" altLang="en-US" sz="1400">
                          <a:latin typeface="微软雅黑" panose="020B0503020204020204" charset="-122"/>
                          <a:ea typeface="微软雅黑" panose="020B0503020204020204" charset="-122"/>
                          <a:cs typeface="微软雅黑" panose="020B0503020204020204" charset="-122"/>
                          <a:sym typeface="+mn-ea"/>
                        </a:rPr>
                        <a:t>收费金额</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sym typeface="+mn-ea"/>
                        </a:rPr>
                        <a:t>单价</a:t>
                      </a:r>
                      <a:r>
                        <a:rPr lang="en-US" altLang="zh-CN" sz="1400">
                          <a:latin typeface="微软雅黑" panose="020B0503020204020204" charset="-122"/>
                          <a:ea typeface="微软雅黑" panose="020B0503020204020204" charset="-122"/>
                          <a:cs typeface="微软雅黑" panose="020B0503020204020204" charset="-122"/>
                          <a:sym typeface="+mn-ea"/>
                        </a:rPr>
                        <a:t>*[(N-1)*0.7+1]</a:t>
                      </a:r>
                      <a:endParaRPr lang="en-US" altLang="zh-CN" sz="1400">
                        <a:latin typeface="微软雅黑" panose="020B0503020204020204" charset="-122"/>
                        <a:ea typeface="微软雅黑" panose="020B0503020204020204" charset="-122"/>
                        <a:cs typeface="微软雅黑" panose="020B0503020204020204" charset="-122"/>
                      </a:endParaRPr>
                    </a:p>
                    <a:p>
                      <a:pPr algn="l">
                        <a:buNone/>
                      </a:pPr>
                      <a:r>
                        <a:rPr lang="en-US" altLang="en-US" sz="1400">
                          <a:latin typeface="微软雅黑" panose="020B0503020204020204" charset="-122"/>
                          <a:ea typeface="微软雅黑" panose="020B0503020204020204" charset="-122"/>
                          <a:cs typeface="微软雅黑" panose="020B0503020204020204" charset="-122"/>
                          <a:sym typeface="+mn-ea"/>
                        </a:rPr>
                        <a:t>④</a:t>
                      </a:r>
                      <a:r>
                        <a:rPr lang="zh-CN" altLang="en-US" sz="1400">
                          <a:latin typeface="微软雅黑" panose="020B0503020204020204" charset="-122"/>
                          <a:ea typeface="微软雅黑" panose="020B0503020204020204" charset="-122"/>
                          <a:cs typeface="微软雅黑" panose="020B0503020204020204" charset="-122"/>
                          <a:sym typeface="+mn-ea"/>
                        </a:rPr>
                        <a:t>收费金额</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sym typeface="+mn-ea"/>
                        </a:rPr>
                        <a:t>单价</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latin typeface="微软雅黑" panose="020B0503020204020204" charset="-122"/>
                          <a:ea typeface="微软雅黑" panose="020B0503020204020204" charset="-122"/>
                          <a:cs typeface="微软雅黑" panose="020B0503020204020204" charset="-122"/>
                          <a:sym typeface="+mn-ea"/>
                        </a:rPr>
                        <a:t>数量</a:t>
                      </a:r>
                      <a:r>
                        <a:rPr lang="en-US" altLang="zh-CN" sz="1400">
                          <a:latin typeface="微软雅黑" panose="020B0503020204020204" charset="-122"/>
                          <a:ea typeface="微软雅黑" panose="020B0503020204020204" charset="-122"/>
                          <a:cs typeface="微软雅黑" panose="020B0503020204020204" charset="-122"/>
                          <a:sym typeface="+mn-ea"/>
                        </a:rPr>
                        <a:t>+5</a:t>
                      </a:r>
                      <a:endParaRPr lang="zh-CN" altLang="en-US" sz="1400" b="0" dirty="0">
                        <a:latin typeface="微软雅黑" panose="020B0503020204020204" charset="-122"/>
                        <a:ea typeface="微软雅黑" panose="020B0503020204020204" charset="-122"/>
                      </a:endParaRPr>
                    </a:p>
                  </a:txBody>
                  <a:tcPr>
                    <a:solidFill>
                      <a:schemeClr val="accent5">
                        <a:lumMod val="40000"/>
                        <a:lumOff val="60000"/>
                      </a:schemeClr>
                    </a:solidFill>
                  </a:tcPr>
                </a:tc>
                <a:tc rowSpan="11">
                  <a:txBody>
                    <a:bodyPr/>
                    <a:p>
                      <a:pPr>
                        <a:buNone/>
                      </a:pPr>
                      <a:endParaRPr lang="en-US" altLang="zh-CN" sz="1400" b="0" dirty="0">
                        <a:latin typeface="微软雅黑" panose="020B0503020204020204" charset="-122"/>
                        <a:ea typeface="微软雅黑" panose="020B0503020204020204" charset="-122"/>
                      </a:endParaRPr>
                    </a:p>
                    <a:p>
                      <a:pPr>
                        <a:buNone/>
                      </a:pPr>
                      <a:endParaRPr lang="en-US" altLang="zh-CN" sz="1400" b="0" dirty="0">
                        <a:latin typeface="微软雅黑" panose="020B0503020204020204" charset="-122"/>
                        <a:ea typeface="微软雅黑" panose="020B0503020204020204" charset="-122"/>
                      </a:endParaRPr>
                    </a:p>
                    <a:p>
                      <a:pPr>
                        <a:buNone/>
                      </a:pPr>
                      <a:endParaRPr lang="en-US" altLang="zh-CN" sz="1400" b="0" dirty="0">
                        <a:latin typeface="微软雅黑" panose="020B0503020204020204" charset="-122"/>
                        <a:ea typeface="微软雅黑" panose="020B0503020204020204" charset="-122"/>
                      </a:endParaRPr>
                    </a:p>
                    <a:p>
                      <a:pPr>
                        <a:buNone/>
                      </a:pPr>
                      <a:endParaRPr lang="en-US" altLang="zh-CN" sz="1400" b="0" dirty="0">
                        <a:latin typeface="微软雅黑" panose="020B0503020204020204" charset="-122"/>
                        <a:ea typeface="微软雅黑" panose="020B0503020204020204" charset="-122"/>
                      </a:endParaRPr>
                    </a:p>
                    <a:p>
                      <a:pPr>
                        <a:buNone/>
                      </a:pPr>
                      <a:endParaRPr lang="en-US" altLang="zh-CN" sz="1400" b="0" dirty="0">
                        <a:latin typeface="微软雅黑" panose="020B0503020204020204" charset="-122"/>
                        <a:ea typeface="微软雅黑" panose="020B0503020204020204" charset="-122"/>
                      </a:endParaRPr>
                    </a:p>
                    <a:p>
                      <a:pPr>
                        <a:buNone/>
                      </a:pPr>
                      <a:r>
                        <a:rPr lang="en-US" altLang="zh-CN" sz="1400" b="0" dirty="0">
                          <a:latin typeface="微软雅黑" panose="020B0503020204020204" charset="-122"/>
                          <a:ea typeface="微软雅黑" panose="020B0503020204020204" charset="-122"/>
                        </a:rPr>
                        <a:t>1</a:t>
                      </a:r>
                      <a:r>
                        <a:rPr lang="zh-CN" altLang="en-US" sz="1400" b="0" dirty="0">
                          <a:latin typeface="微软雅黑" panose="020B0503020204020204" charset="-122"/>
                          <a:ea typeface="微软雅黑" panose="020B0503020204020204" charset="-122"/>
                        </a:rPr>
                        <a:t>、不足基础计价量</a:t>
                      </a:r>
                      <a:r>
                        <a:rPr lang="zh-CN" sz="1400" b="0" dirty="0">
                          <a:latin typeface="微软雅黑" panose="020B0503020204020204" charset="-122"/>
                          <a:ea typeface="微软雅黑" panose="020B0503020204020204" charset="-122"/>
                        </a:rPr>
                        <a:t>按</a:t>
                      </a:r>
                      <a:r>
                        <a:rPr lang="en-US" altLang="zh-CN" sz="1400" b="0" dirty="0">
                          <a:latin typeface="微软雅黑" panose="020B0503020204020204" charset="-122"/>
                          <a:ea typeface="微软雅黑" panose="020B0503020204020204" charset="-122"/>
                        </a:rPr>
                        <a:t>1</a:t>
                      </a:r>
                      <a:r>
                        <a:rPr lang="zh-CN" altLang="en-US" sz="1400" b="0" dirty="0">
                          <a:latin typeface="微软雅黑" panose="020B0503020204020204" charset="-122"/>
                          <a:ea typeface="微软雅黑" panose="020B0503020204020204" charset="-122"/>
                        </a:rPr>
                        <a:t>个数量收；大于</a:t>
                      </a:r>
                      <a:r>
                        <a:rPr lang="en-US" altLang="zh-CN" sz="1400" b="0" dirty="0">
                          <a:latin typeface="微软雅黑" panose="020B0503020204020204" charset="-122"/>
                          <a:ea typeface="微软雅黑" panose="020B0503020204020204" charset="-122"/>
                        </a:rPr>
                        <a:t>1</a:t>
                      </a:r>
                      <a:r>
                        <a:rPr lang="zh-CN" altLang="en-US" sz="1400" b="0" dirty="0">
                          <a:latin typeface="微软雅黑" panose="020B0503020204020204" charset="-122"/>
                          <a:ea typeface="微软雅黑" panose="020B0503020204020204" charset="-122"/>
                        </a:rPr>
                        <a:t>小于</a:t>
                      </a:r>
                      <a:r>
                        <a:rPr lang="en-US" altLang="zh-CN" sz="1400" b="0" dirty="0">
                          <a:latin typeface="微软雅黑" panose="020B0503020204020204" charset="-122"/>
                          <a:ea typeface="微软雅黑" panose="020B0503020204020204" charset="-122"/>
                        </a:rPr>
                        <a:t>2</a:t>
                      </a:r>
                      <a:r>
                        <a:rPr lang="zh-CN" altLang="en-US" sz="1400" b="0" dirty="0">
                          <a:latin typeface="微软雅黑" panose="020B0503020204020204" charset="-122"/>
                          <a:ea typeface="微软雅黑" panose="020B0503020204020204" charset="-122"/>
                        </a:rPr>
                        <a:t>，计价收费个数按</a:t>
                      </a:r>
                      <a:r>
                        <a:rPr lang="en-US" altLang="zh-CN" sz="1400" b="0" dirty="0">
                          <a:latin typeface="微软雅黑" panose="020B0503020204020204" charset="-122"/>
                          <a:ea typeface="微软雅黑" panose="020B0503020204020204" charset="-122"/>
                        </a:rPr>
                        <a:t>2</a:t>
                      </a:r>
                      <a:r>
                        <a:rPr lang="zh-CN" altLang="en-US" sz="1400" b="0" dirty="0">
                          <a:latin typeface="微软雅黑" panose="020B0503020204020204" charset="-122"/>
                          <a:ea typeface="微软雅黑" panose="020B0503020204020204" charset="-122"/>
                        </a:rPr>
                        <a:t>个收，以此类推；</a:t>
                      </a:r>
                      <a:endParaRPr lang="zh-CN" altLang="en-US" sz="1400" b="0" dirty="0">
                        <a:latin typeface="微软雅黑" panose="020B0503020204020204" charset="-122"/>
                        <a:ea typeface="微软雅黑" panose="020B0503020204020204" charset="-122"/>
                      </a:endParaRPr>
                    </a:p>
                    <a:p>
                      <a:pPr>
                        <a:buNone/>
                      </a:pPr>
                      <a:r>
                        <a:rPr lang="en-US" altLang="zh-CN" sz="1400" b="0" dirty="0">
                          <a:latin typeface="微软雅黑" panose="020B0503020204020204" charset="-122"/>
                          <a:ea typeface="微软雅黑" panose="020B0503020204020204" charset="-122"/>
                        </a:rPr>
                        <a:t>2</a:t>
                      </a:r>
                      <a:r>
                        <a:rPr lang="zh-CN" altLang="en-US" sz="1400" b="0" dirty="0">
                          <a:latin typeface="微软雅黑" panose="020B0503020204020204" charset="-122"/>
                          <a:ea typeface="微软雅黑" panose="020B0503020204020204" charset="-122"/>
                        </a:rPr>
                        <a:t>、实际治疗数量（收费上限额</a:t>
                      </a:r>
                      <a:r>
                        <a:rPr lang="en-US" altLang="zh-CN" sz="1400" b="0" dirty="0">
                          <a:latin typeface="微软雅黑" panose="020B0503020204020204" charset="-122"/>
                          <a:ea typeface="微软雅黑" panose="020B0503020204020204" charset="-122"/>
                        </a:rPr>
                        <a:t>/</a:t>
                      </a:r>
                      <a:r>
                        <a:rPr lang="zh-CN" altLang="en-US" sz="1400" b="0" dirty="0">
                          <a:latin typeface="微软雅黑" panose="020B0503020204020204" charset="-122"/>
                          <a:ea typeface="微软雅黑" panose="020B0503020204020204" charset="-122"/>
                        </a:rPr>
                        <a:t>单价除不尽，取小数点</a:t>
                      </a:r>
                      <a:r>
                        <a:rPr lang="en-US" altLang="zh-CN" sz="1400" b="0" dirty="0">
                          <a:latin typeface="微软雅黑" panose="020B0503020204020204" charset="-122"/>
                          <a:ea typeface="微软雅黑" panose="020B0503020204020204" charset="-122"/>
                        </a:rPr>
                        <a:t>1</a:t>
                      </a:r>
                      <a:r>
                        <a:rPr lang="zh-CN" altLang="en-US" sz="1400" b="0" dirty="0">
                          <a:latin typeface="微软雅黑" panose="020B0503020204020204" charset="-122"/>
                          <a:ea typeface="微软雅黑" panose="020B0503020204020204" charset="-122"/>
                        </a:rPr>
                        <a:t>位）超过按最高数量收</a:t>
                      </a:r>
                      <a:endParaRPr lang="zh-CN" altLang="en-US" sz="1400" b="0" dirty="0">
                        <a:latin typeface="微软雅黑" panose="020B0503020204020204" charset="-122"/>
                        <a:ea typeface="微软雅黑" panose="020B0503020204020204" charset="-122"/>
                      </a:endParaRPr>
                    </a:p>
                  </a:txBody>
                  <a:tcPr>
                    <a:solidFill>
                      <a:schemeClr val="accent5">
                        <a:lumMod val="40000"/>
                        <a:lumOff val="60000"/>
                      </a:schemeClr>
                    </a:solidFill>
                  </a:tcPr>
                </a:tc>
              </a:tr>
              <a:tr h="383540">
                <a:tc>
                  <a:txBody>
                    <a:bodyPr/>
                    <a:lstStyle/>
                    <a:p>
                      <a:pPr algn="ctr"/>
                      <a:r>
                        <a:rPr lang="en-US" altLang="zh-CN" sz="1400" dirty="0">
                          <a:latin typeface="微软雅黑" panose="020B0503020204020204" charset="-122"/>
                          <a:ea typeface="微软雅黑" panose="020B0503020204020204" charset="-122"/>
                        </a:rPr>
                        <a:t>2</a:t>
                      </a:r>
                      <a:endParaRPr lang="zh-CN" altLang="en-US" sz="1400" dirty="0">
                        <a:latin typeface="微软雅黑" panose="020B0503020204020204" charset="-122"/>
                        <a:ea typeface="微软雅黑" panose="020B0503020204020204" charset="-122"/>
                      </a:endParaRPr>
                    </a:p>
                  </a:txBody>
                  <a:tcPr>
                    <a:solidFill>
                      <a:schemeClr val="accent5">
                        <a:lumMod val="40000"/>
                        <a:lumOff val="60000"/>
                      </a:schemeClr>
                    </a:solidFill>
                  </a:tcPr>
                </a:tc>
                <a:tc vMerge="1">
                  <a:tcPr/>
                </a:tc>
                <a:tc vMerge="1">
                  <a:tcPr/>
                </a:tc>
                <a:tc>
                  <a:txBody>
                    <a:bodyPr/>
                    <a:p>
                      <a:pPr algn="l">
                        <a:buClrTx/>
                        <a:buSzTx/>
                        <a:buFontTx/>
                      </a:pPr>
                      <a:r>
                        <a:rPr lang="en-US" altLang="zh-CN" sz="1400" b="0" i="0" dirty="0">
                          <a:latin typeface="微软雅黑" panose="020B0503020204020204" charset="-122"/>
                          <a:ea typeface="微软雅黑" panose="020B0503020204020204" charset="-122"/>
                        </a:rPr>
                        <a:t>平方厘米</a:t>
                      </a:r>
                      <a:endParaRPr lang="en-US" altLang="zh-CN" sz="1400" b="0" i="0" dirty="0">
                        <a:latin typeface="微软雅黑" panose="020B0503020204020204" charset="-122"/>
                        <a:ea typeface="微软雅黑" panose="020B0503020204020204" charset="-122"/>
                      </a:endParaRPr>
                    </a:p>
                  </a:txBody>
                  <a:tcPr marL="7937" marR="7937" marT="7937" marB="0" anchor="ctr" anchorCtr="0">
                    <a:gradFill>
                      <a:gsLst>
                        <a:gs pos="0">
                          <a:schemeClr val="bg1">
                            <a:lumMod val="95000"/>
                          </a:schemeClr>
                        </a:gs>
                        <a:gs pos="53000">
                          <a:schemeClr val="bg1">
                            <a:lumMod val="85000"/>
                          </a:schemeClr>
                        </a:gs>
                        <a:gs pos="100000">
                          <a:schemeClr val="bg1">
                            <a:lumMod val="75000"/>
                          </a:schemeClr>
                        </a:gs>
                      </a:gsLst>
                      <a:lin ang="5400000" scaled="1"/>
                    </a:gradFill>
                  </a:tcPr>
                </a:tc>
                <a:tc vMerge="1">
                  <a:tcPr marL="7937" marR="7937" marT="7937" marB="0" anchor="ctr" anchorCtr="0"/>
                </a:tc>
                <a:tc vMerge="1">
                  <a:tcPr/>
                </a:tc>
                <a:tc vMerge="1">
                  <a:tcPr/>
                </a:tc>
                <a:tc vMerge="1">
                  <a:tcPr/>
                </a:tc>
              </a:tr>
              <a:tr h="392430">
                <a:tc>
                  <a:txBody>
                    <a:bodyPr/>
                    <a:lstStyle/>
                    <a:p>
                      <a:pPr algn="ctr"/>
                      <a:r>
                        <a:rPr lang="en-US" altLang="zh-CN" sz="1400" dirty="0">
                          <a:latin typeface="微软雅黑" panose="020B0503020204020204" charset="-122"/>
                          <a:ea typeface="微软雅黑" panose="020B0503020204020204" charset="-122"/>
                        </a:rPr>
                        <a:t>3</a:t>
                      </a:r>
                      <a:endParaRPr lang="zh-CN" altLang="en-US" sz="1400" dirty="0">
                        <a:latin typeface="微软雅黑" panose="020B0503020204020204" charset="-122"/>
                        <a:ea typeface="微软雅黑" panose="020B0503020204020204" charset="-122"/>
                      </a:endParaRPr>
                    </a:p>
                  </a:txBody>
                  <a:tcPr>
                    <a:solidFill>
                      <a:schemeClr val="accent5">
                        <a:lumMod val="40000"/>
                        <a:lumOff val="60000"/>
                      </a:schemeClr>
                    </a:solidFill>
                  </a:tcPr>
                </a:tc>
                <a:tc vMerge="1">
                  <a:tcPr/>
                </a:tc>
                <a:tc vMerge="1">
                  <a:tcPr/>
                </a:tc>
                <a:tc>
                  <a:txBody>
                    <a:bodyPr/>
                    <a:p>
                      <a:pPr algn="l">
                        <a:buClrTx/>
                        <a:buSzTx/>
                        <a:buFontTx/>
                      </a:pPr>
                      <a:r>
                        <a:rPr lang="en-US" altLang="zh-CN" sz="1400" b="0" i="0" dirty="0">
                          <a:latin typeface="微软雅黑" panose="020B0503020204020204" charset="-122"/>
                          <a:ea typeface="微软雅黑" panose="020B0503020204020204" charset="-122"/>
                        </a:rPr>
                        <a:t>每个皮损</a:t>
                      </a:r>
                      <a:endParaRPr lang="en-US" altLang="zh-CN" sz="1400" b="0" i="0" dirty="0">
                        <a:latin typeface="微软雅黑" panose="020B0503020204020204" charset="-122"/>
                        <a:ea typeface="微软雅黑" panose="020B0503020204020204" charset="-122"/>
                      </a:endParaRPr>
                    </a:p>
                  </a:txBody>
                  <a:tcPr marL="7937" marR="7937" marT="7937" marB="0" anchor="ctr" anchorCtr="0">
                    <a:gradFill>
                      <a:gsLst>
                        <a:gs pos="0">
                          <a:schemeClr val="bg1">
                            <a:lumMod val="95000"/>
                          </a:schemeClr>
                        </a:gs>
                        <a:gs pos="53000">
                          <a:schemeClr val="bg1">
                            <a:lumMod val="85000"/>
                          </a:schemeClr>
                        </a:gs>
                        <a:gs pos="100000">
                          <a:schemeClr val="bg1">
                            <a:lumMod val="75000"/>
                          </a:schemeClr>
                        </a:gs>
                      </a:gsLst>
                      <a:lin ang="5400000" scaled="1"/>
                    </a:gradFill>
                  </a:tcPr>
                </a:tc>
                <a:tc vMerge="1">
                  <a:tcPr marL="7937" marR="7937" marT="7937" marB="0" anchor="ctr" anchorCtr="0"/>
                </a:tc>
                <a:tc vMerge="1">
                  <a:tcPr/>
                </a:tc>
                <a:tc vMerge="1">
                  <a:tcPr/>
                </a:tc>
                <a:tc vMerge="1">
                  <a:tcPr/>
                </a:tc>
              </a:tr>
              <a:tr h="408940">
                <a:tc>
                  <a:txBody>
                    <a:bodyPr/>
                    <a:lstStyle/>
                    <a:p>
                      <a:pPr algn="ctr"/>
                      <a:r>
                        <a:rPr lang="en-US" altLang="zh-CN" sz="1400" dirty="0">
                          <a:latin typeface="微软雅黑" panose="020B0503020204020204" charset="-122"/>
                          <a:ea typeface="微软雅黑" panose="020B0503020204020204" charset="-122"/>
                        </a:rPr>
                        <a:t>4</a:t>
                      </a:r>
                      <a:endParaRPr lang="zh-CN" altLang="en-US" sz="1400" dirty="0">
                        <a:latin typeface="微软雅黑" panose="020B0503020204020204" charset="-122"/>
                        <a:ea typeface="微软雅黑" panose="020B0503020204020204" charset="-122"/>
                      </a:endParaRPr>
                    </a:p>
                  </a:txBody>
                  <a:tcPr>
                    <a:solidFill>
                      <a:schemeClr val="accent5">
                        <a:lumMod val="40000"/>
                        <a:lumOff val="60000"/>
                      </a:schemeClr>
                    </a:solidFill>
                  </a:tcPr>
                </a:tc>
                <a:tc>
                  <a:txBody>
                    <a:bodyPr/>
                    <a:lstStyle/>
                    <a:p>
                      <a:pPr algn="l">
                        <a:buClrTx/>
                        <a:buSzTx/>
                        <a:buFontTx/>
                      </a:pPr>
                      <a:r>
                        <a:rPr lang="en-US" altLang="zh-CN" sz="1400" b="0" i="0" dirty="0">
                          <a:latin typeface="微软雅黑" panose="020B0503020204020204" charset="-122"/>
                          <a:ea typeface="微软雅黑" panose="020B0503020204020204" charset="-122"/>
                        </a:rPr>
                        <a:t>周长</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6">
                        <a:lumMod val="40000"/>
                        <a:lumOff val="60000"/>
                      </a:schemeClr>
                    </a:solidFill>
                  </a:tcPr>
                </a:tc>
                <a:tc>
                  <a:txBody>
                    <a:bodyPr/>
                    <a:lstStyle/>
                    <a:p>
                      <a:pPr algn="l">
                        <a:buClrTx/>
                        <a:buSzTx/>
                        <a:buFontTx/>
                      </a:pPr>
                      <a:r>
                        <a:rPr lang="en-US" altLang="zh-CN" sz="1400" b="0" i="0" dirty="0">
                          <a:latin typeface="微软雅黑" panose="020B0503020204020204" charset="-122"/>
                          <a:ea typeface="微软雅黑" panose="020B0503020204020204" charset="-122"/>
                        </a:rPr>
                        <a:t>瘢痕</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6">
                        <a:lumMod val="40000"/>
                        <a:lumOff val="60000"/>
                      </a:schemeClr>
                    </a:solidFill>
                  </a:tcPr>
                </a:tc>
                <a:tc>
                  <a:txBody>
                    <a:bodyPr/>
                    <a:p>
                      <a:pPr algn="l">
                        <a:buClrTx/>
                        <a:buSzTx/>
                        <a:buFontTx/>
                      </a:pPr>
                      <a:r>
                        <a:rPr lang="en-US" altLang="zh-CN" sz="1400" b="0" i="0" dirty="0">
                          <a:latin typeface="微软雅黑" panose="020B0503020204020204" charset="-122"/>
                          <a:ea typeface="微软雅黑" panose="020B0503020204020204" charset="-122"/>
                        </a:rPr>
                        <a:t>厘米</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6">
                        <a:lumMod val="40000"/>
                        <a:lumOff val="60000"/>
                      </a:schemeClr>
                    </a:solidFill>
                  </a:tcPr>
                </a:tc>
                <a:tc vMerge="1">
                  <a:tcPr marL="7937" marR="7937" marT="7937" marB="0" anchor="ctr" anchorCtr="0"/>
                </a:tc>
                <a:tc vMerge="1">
                  <a:tcPr/>
                </a:tc>
                <a:tc vMerge="1">
                  <a:tcPr/>
                </a:tc>
                <a:tc vMerge="1">
                  <a:tcPr/>
                </a:tc>
              </a:tr>
              <a:tr h="426085">
                <a:tc>
                  <a:txBody>
                    <a:bodyPr/>
                    <a:lstStyle/>
                    <a:p>
                      <a:pPr algn="ctr"/>
                      <a:r>
                        <a:rPr lang="en-US" altLang="zh-CN" sz="1400" dirty="0">
                          <a:latin typeface="微软雅黑" panose="020B0503020204020204" charset="-122"/>
                          <a:ea typeface="微软雅黑" panose="020B0503020204020204" charset="-122"/>
                        </a:rPr>
                        <a:t>5</a:t>
                      </a:r>
                      <a:endParaRPr lang="zh-CN" altLang="en-US" sz="1400" dirty="0">
                        <a:latin typeface="微软雅黑" panose="020B0503020204020204" charset="-122"/>
                        <a:ea typeface="微软雅黑" panose="020B0503020204020204" charset="-122"/>
                      </a:endParaRPr>
                    </a:p>
                  </a:txBody>
                  <a:tcPr>
                    <a:solidFill>
                      <a:schemeClr val="accent5">
                        <a:lumMod val="40000"/>
                        <a:lumOff val="60000"/>
                      </a:schemeClr>
                    </a:solidFill>
                  </a:tcPr>
                </a:tc>
                <a:tc rowSpan="5">
                  <a:txBody>
                    <a:bodyPr/>
                    <a:lstStyle/>
                    <a:p>
                      <a:pPr algn="l">
                        <a:buClrTx/>
                        <a:buSzTx/>
                        <a:buFontTx/>
                      </a:pPr>
                      <a:r>
                        <a:rPr lang="en-US" altLang="zh-CN" sz="1400" b="0" i="0" dirty="0">
                          <a:latin typeface="微软雅黑" panose="020B0503020204020204" charset="-122"/>
                          <a:ea typeface="微软雅黑" panose="020B0503020204020204" charset="-122"/>
                        </a:rPr>
                        <a:t>数量</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2">
                        <a:lumMod val="40000"/>
                        <a:lumOff val="60000"/>
                      </a:schemeClr>
                    </a:solidFill>
                  </a:tcPr>
                </a:tc>
                <a:tc>
                  <a:txBody>
                    <a:bodyPr/>
                    <a:lstStyle/>
                    <a:p>
                      <a:pPr algn="l">
                        <a:buClrTx/>
                        <a:buSzTx/>
                        <a:buFontTx/>
                      </a:pPr>
                      <a:r>
                        <a:rPr lang="en-US" altLang="zh-CN" sz="1400" b="0" i="0" dirty="0">
                          <a:latin typeface="微软雅黑" panose="020B0503020204020204" charset="-122"/>
                          <a:ea typeface="微软雅黑" panose="020B0503020204020204" charset="-122"/>
                        </a:rPr>
                        <a:t>皮肤</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2">
                        <a:lumMod val="40000"/>
                        <a:lumOff val="60000"/>
                      </a:schemeClr>
                    </a:solidFill>
                  </a:tcPr>
                </a:tc>
                <a:tc>
                  <a:txBody>
                    <a:bodyPr/>
                    <a:p>
                      <a:pPr algn="l">
                        <a:buClrTx/>
                        <a:buSzTx/>
                        <a:buFontTx/>
                      </a:pPr>
                      <a:r>
                        <a:rPr lang="en-US" altLang="zh-CN" sz="1400" b="0" i="0" dirty="0">
                          <a:latin typeface="微软雅黑" panose="020B0503020204020204" charset="-122"/>
                          <a:ea typeface="微软雅黑" panose="020B0503020204020204" charset="-122"/>
                        </a:rPr>
                        <a:t>平方厘米</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2">
                        <a:lumMod val="40000"/>
                        <a:lumOff val="60000"/>
                      </a:schemeClr>
                    </a:solidFill>
                  </a:tcPr>
                </a:tc>
                <a:tc vMerge="1">
                  <a:tcPr marL="7937" marR="7937" marT="7937" marB="0" anchor="ctr" anchorCtr="0"/>
                </a:tc>
                <a:tc vMerge="1">
                  <a:tcPr/>
                </a:tc>
                <a:tc vMerge="1">
                  <a:tcPr/>
                </a:tc>
                <a:tc vMerge="1">
                  <a:tcPr/>
                </a:tc>
              </a:tr>
              <a:tr h="304800">
                <a:tc>
                  <a:txBody>
                    <a:bodyPr/>
                    <a:p>
                      <a:pPr algn="ctr">
                        <a:buNone/>
                      </a:pPr>
                      <a:r>
                        <a:rPr lang="en-US" altLang="zh-CN" sz="1400" dirty="0">
                          <a:latin typeface="微软雅黑" panose="020B0503020204020204" charset="-122"/>
                          <a:ea typeface="微软雅黑" panose="020B0503020204020204" charset="-122"/>
                        </a:rPr>
                        <a:t>6</a:t>
                      </a:r>
                      <a:endParaRPr lang="en-US" altLang="zh-CN" sz="1400" dirty="0">
                        <a:latin typeface="微软雅黑" panose="020B0503020204020204" charset="-122"/>
                        <a:ea typeface="微软雅黑" panose="020B0503020204020204" charset="-122"/>
                      </a:endParaRPr>
                    </a:p>
                  </a:txBody>
                  <a:tcPr>
                    <a:solidFill>
                      <a:schemeClr val="accent5">
                        <a:lumMod val="40000"/>
                        <a:lumOff val="60000"/>
                      </a:schemeClr>
                    </a:solidFill>
                  </a:tcPr>
                </a:tc>
                <a:tc vMerge="1">
                  <a:tcPr/>
                </a:tc>
                <a:tc>
                  <a:txBody>
                    <a:bodyPr/>
                    <a:p>
                      <a:pPr algn="l">
                        <a:buClrTx/>
                        <a:buSzTx/>
                        <a:buFontTx/>
                      </a:pPr>
                      <a:r>
                        <a:rPr lang="en-US" altLang="zh-CN" sz="1400" b="0" i="0" dirty="0">
                          <a:latin typeface="微软雅黑" panose="020B0503020204020204" charset="-122"/>
                          <a:ea typeface="微软雅黑" panose="020B0503020204020204" charset="-122"/>
                        </a:rPr>
                        <a:t>肿物</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2">
                        <a:lumMod val="40000"/>
                        <a:lumOff val="60000"/>
                      </a:schemeClr>
                    </a:solidFill>
                  </a:tcPr>
                </a:tc>
                <a:tc>
                  <a:txBody>
                    <a:bodyPr/>
                    <a:p>
                      <a:pPr algn="l">
                        <a:buClrTx/>
                        <a:buSzTx/>
                        <a:buFontTx/>
                      </a:pPr>
                      <a:r>
                        <a:rPr lang="en-US" altLang="zh-CN" sz="1400" dirty="0">
                          <a:latin typeface="微软雅黑" panose="020B0503020204020204" charset="-122"/>
                          <a:ea typeface="微软雅黑" panose="020B0503020204020204" charset="-122"/>
                          <a:sym typeface="+mn-ea"/>
                        </a:rPr>
                        <a:t>平方厘米</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2">
                        <a:lumMod val="40000"/>
                        <a:lumOff val="60000"/>
                      </a:schemeClr>
                    </a:solidFill>
                  </a:tcPr>
                </a:tc>
                <a:tc vMerge="1">
                  <a:tcPr marL="7937" marR="7937" marT="7937" marB="0" anchor="ctr" anchorCtr="0"/>
                </a:tc>
                <a:tc vMerge="1">
                  <a:tcPr/>
                </a:tc>
                <a:tc vMerge="1">
                  <a:tcPr/>
                </a:tc>
                <a:tc vMerge="1">
                  <a:tcPr/>
                </a:tc>
              </a:tr>
              <a:tr h="408940">
                <a:tc>
                  <a:txBody>
                    <a:bodyPr/>
                    <a:p>
                      <a:pPr algn="ctr">
                        <a:buNone/>
                      </a:pPr>
                      <a:r>
                        <a:rPr lang="en-US" altLang="zh-CN" sz="1400" dirty="0">
                          <a:latin typeface="微软雅黑" panose="020B0503020204020204" charset="-122"/>
                          <a:ea typeface="微软雅黑" panose="020B0503020204020204" charset="-122"/>
                        </a:rPr>
                        <a:t>7</a:t>
                      </a:r>
                      <a:endParaRPr lang="en-US" altLang="zh-CN" sz="1400" dirty="0">
                        <a:latin typeface="微软雅黑" panose="020B0503020204020204" charset="-122"/>
                        <a:ea typeface="微软雅黑" panose="020B0503020204020204" charset="-122"/>
                      </a:endParaRPr>
                    </a:p>
                  </a:txBody>
                  <a:tcPr>
                    <a:solidFill>
                      <a:schemeClr val="accent5">
                        <a:lumMod val="40000"/>
                        <a:lumOff val="60000"/>
                      </a:schemeClr>
                    </a:solidFill>
                  </a:tcPr>
                </a:tc>
                <a:tc vMerge="1">
                  <a:tcPr/>
                </a:tc>
                <a:tc>
                  <a:txBody>
                    <a:bodyPr/>
                    <a:p>
                      <a:pPr algn="l">
                        <a:buClrTx/>
                        <a:buSzTx/>
                        <a:buFontTx/>
                      </a:pPr>
                      <a:r>
                        <a:rPr lang="en-US" altLang="zh-CN" sz="1400" b="0" i="0" dirty="0">
                          <a:latin typeface="微软雅黑" panose="020B0503020204020204" charset="-122"/>
                          <a:ea typeface="微软雅黑" panose="020B0503020204020204" charset="-122"/>
                        </a:rPr>
                        <a:t>头部</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2">
                        <a:lumMod val="40000"/>
                        <a:lumOff val="60000"/>
                      </a:schemeClr>
                    </a:solidFill>
                  </a:tcPr>
                </a:tc>
                <a:tc>
                  <a:txBody>
                    <a:bodyPr/>
                    <a:p>
                      <a:pPr algn="l">
                        <a:buClrTx/>
                        <a:buSzTx/>
                        <a:buFontTx/>
                      </a:pPr>
                      <a:r>
                        <a:rPr lang="en-US" altLang="zh-CN" sz="1400" b="0" i="0" dirty="0">
                          <a:latin typeface="微软雅黑" panose="020B0503020204020204" charset="-122"/>
                          <a:ea typeface="微软雅黑" panose="020B0503020204020204" charset="-122"/>
                        </a:rPr>
                        <a:t>平方厘米/1%体表面积</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2">
                        <a:lumMod val="40000"/>
                        <a:lumOff val="60000"/>
                      </a:schemeClr>
                    </a:solidFill>
                  </a:tcPr>
                </a:tc>
                <a:tc vMerge="1">
                  <a:tcPr marL="7937" marR="7937" marT="7937" marB="0" anchor="ctr" anchorCtr="0"/>
                </a:tc>
                <a:tc vMerge="1">
                  <a:tcPr/>
                </a:tc>
                <a:tc vMerge="1">
                  <a:tcPr/>
                </a:tc>
                <a:tc vMerge="1">
                  <a:tcPr/>
                </a:tc>
              </a:tr>
              <a:tr h="579755">
                <a:tc>
                  <a:txBody>
                    <a:bodyPr/>
                    <a:p>
                      <a:pPr algn="ctr">
                        <a:buNone/>
                      </a:pPr>
                      <a:r>
                        <a:rPr lang="en-US" altLang="zh-CN" sz="1400" dirty="0">
                          <a:latin typeface="微软雅黑" panose="020B0503020204020204" charset="-122"/>
                          <a:ea typeface="微软雅黑" panose="020B0503020204020204" charset="-122"/>
                        </a:rPr>
                        <a:t>8</a:t>
                      </a:r>
                      <a:endParaRPr lang="en-US" altLang="zh-CN" sz="1400" dirty="0">
                        <a:latin typeface="微软雅黑" panose="020B0503020204020204" charset="-122"/>
                        <a:ea typeface="微软雅黑" panose="020B0503020204020204" charset="-122"/>
                      </a:endParaRPr>
                    </a:p>
                  </a:txBody>
                  <a:tcPr>
                    <a:solidFill>
                      <a:schemeClr val="accent5">
                        <a:lumMod val="40000"/>
                        <a:lumOff val="60000"/>
                      </a:schemeClr>
                    </a:solidFill>
                  </a:tcPr>
                </a:tc>
                <a:tc vMerge="1">
                  <a:tcPr/>
                </a:tc>
                <a:tc>
                  <a:txBody>
                    <a:bodyPr/>
                    <a:p>
                      <a:pPr algn="l">
                        <a:buClrTx/>
                        <a:buSzTx/>
                        <a:buFontTx/>
                      </a:pPr>
                      <a:r>
                        <a:rPr lang="en-US" altLang="zh-CN" sz="1400" b="0" i="0" dirty="0">
                          <a:latin typeface="微软雅黑" panose="020B0503020204020204" charset="-122"/>
                          <a:ea typeface="微软雅黑" panose="020B0503020204020204" charset="-122"/>
                        </a:rPr>
                        <a:t>躯干</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2">
                        <a:lumMod val="40000"/>
                        <a:lumOff val="60000"/>
                      </a:schemeClr>
                    </a:solidFill>
                  </a:tcPr>
                </a:tc>
                <a:tc>
                  <a:txBody>
                    <a:bodyPr/>
                    <a:p>
                      <a:pPr algn="l">
                        <a:buClrTx/>
                        <a:buSzTx/>
                        <a:buFontTx/>
                      </a:pPr>
                      <a:r>
                        <a:rPr lang="en-US" altLang="zh-CN" sz="1400" b="0" i="0" dirty="0">
                          <a:latin typeface="微软雅黑" panose="020B0503020204020204" charset="-122"/>
                          <a:ea typeface="微软雅黑" panose="020B0503020204020204" charset="-122"/>
                        </a:rPr>
                        <a:t>平方厘米/1%体表面积</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2">
                        <a:lumMod val="40000"/>
                        <a:lumOff val="60000"/>
                      </a:schemeClr>
                    </a:solidFill>
                  </a:tcPr>
                </a:tc>
                <a:tc vMerge="1">
                  <a:tcPr marL="7937" marR="7937" marT="7937" marB="0" anchor="ctr" anchorCtr="0"/>
                </a:tc>
                <a:tc vMerge="1">
                  <a:tcPr/>
                </a:tc>
                <a:tc vMerge="1">
                  <a:tcPr/>
                </a:tc>
                <a:tc vMerge="1">
                  <a:tcPr/>
                </a:tc>
              </a:tr>
              <a:tr h="358140">
                <a:tc>
                  <a:txBody>
                    <a:bodyPr/>
                    <a:p>
                      <a:pPr algn="ctr">
                        <a:buNone/>
                      </a:pPr>
                      <a:r>
                        <a:rPr lang="en-US" altLang="zh-CN" sz="1400" dirty="0">
                          <a:latin typeface="微软雅黑" panose="020B0503020204020204" charset="-122"/>
                          <a:ea typeface="微软雅黑" panose="020B0503020204020204" charset="-122"/>
                        </a:rPr>
                        <a:t>9</a:t>
                      </a:r>
                      <a:endParaRPr lang="en-US" altLang="zh-CN" sz="1400" dirty="0">
                        <a:latin typeface="微软雅黑" panose="020B0503020204020204" charset="-122"/>
                        <a:ea typeface="微软雅黑" panose="020B0503020204020204" charset="-122"/>
                      </a:endParaRPr>
                    </a:p>
                  </a:txBody>
                  <a:tcPr>
                    <a:solidFill>
                      <a:schemeClr val="accent5">
                        <a:lumMod val="40000"/>
                        <a:lumOff val="60000"/>
                      </a:schemeClr>
                    </a:solidFill>
                  </a:tcPr>
                </a:tc>
                <a:tc vMerge="1">
                  <a:tcPr/>
                </a:tc>
                <a:tc>
                  <a:txBody>
                    <a:bodyPr/>
                    <a:p>
                      <a:pPr algn="l">
                        <a:buClrTx/>
                        <a:buSzTx/>
                        <a:buFontTx/>
                      </a:pPr>
                      <a:r>
                        <a:rPr lang="en-US" altLang="zh-CN" sz="1400" b="0" i="0" dirty="0">
                          <a:latin typeface="微软雅黑" panose="020B0503020204020204" charset="-122"/>
                          <a:ea typeface="微软雅黑" panose="020B0503020204020204" charset="-122"/>
                        </a:rPr>
                        <a:t>皮瓣</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2">
                        <a:lumMod val="40000"/>
                        <a:lumOff val="60000"/>
                      </a:schemeClr>
                    </a:solidFill>
                  </a:tcPr>
                </a:tc>
                <a:tc>
                  <a:txBody>
                    <a:bodyPr/>
                    <a:p>
                      <a:pPr algn="l">
                        <a:buClrTx/>
                        <a:buSzTx/>
                        <a:buFontTx/>
                      </a:pPr>
                      <a:r>
                        <a:rPr lang="en-US" altLang="zh-CN" sz="1400" b="0" i="0" dirty="0">
                          <a:latin typeface="微软雅黑" panose="020B0503020204020204" charset="-122"/>
                          <a:ea typeface="微软雅黑" panose="020B0503020204020204" charset="-122"/>
                        </a:rPr>
                        <a:t>平方厘米</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2">
                        <a:lumMod val="40000"/>
                        <a:lumOff val="60000"/>
                      </a:schemeClr>
                    </a:solidFill>
                  </a:tcPr>
                </a:tc>
                <a:tc vMerge="1">
                  <a:tcPr marL="7937" marR="7937" marT="7937" marB="0" anchor="ctr" anchorCtr="0"/>
                </a:tc>
                <a:tc vMerge="1">
                  <a:tcPr/>
                </a:tc>
                <a:tc vMerge="1">
                  <a:tcPr/>
                </a:tc>
                <a:tc vMerge="1">
                  <a:tcPr/>
                </a:tc>
              </a:tr>
              <a:tr h="408940">
                <a:tc>
                  <a:txBody>
                    <a:bodyPr/>
                    <a:p>
                      <a:pPr algn="ctr">
                        <a:buNone/>
                      </a:pPr>
                      <a:r>
                        <a:rPr lang="en-US" altLang="zh-CN" sz="1400" dirty="0">
                          <a:latin typeface="微软雅黑" panose="020B0503020204020204" charset="-122"/>
                          <a:ea typeface="微软雅黑" panose="020B0503020204020204" charset="-122"/>
                        </a:rPr>
                        <a:t>10</a:t>
                      </a:r>
                      <a:endParaRPr lang="en-US" altLang="zh-CN" sz="1400" dirty="0">
                        <a:latin typeface="微软雅黑" panose="020B0503020204020204" charset="-122"/>
                        <a:ea typeface="微软雅黑" panose="020B0503020204020204" charset="-122"/>
                      </a:endParaRPr>
                    </a:p>
                  </a:txBody>
                  <a:tcPr>
                    <a:solidFill>
                      <a:schemeClr val="accent5">
                        <a:lumMod val="40000"/>
                        <a:lumOff val="60000"/>
                      </a:schemeClr>
                    </a:solidFill>
                  </a:tcPr>
                </a:tc>
                <a:tc>
                  <a:txBody>
                    <a:bodyPr/>
                    <a:p>
                      <a:pPr algn="l">
                        <a:buClrTx/>
                        <a:buSzTx/>
                        <a:buFontTx/>
                      </a:pPr>
                      <a:r>
                        <a:rPr lang="en-US" altLang="zh-CN" sz="1400" b="0" i="0" dirty="0">
                          <a:latin typeface="微软雅黑" panose="020B0503020204020204" charset="-122"/>
                          <a:ea typeface="微软雅黑" panose="020B0503020204020204" charset="-122"/>
                        </a:rPr>
                        <a:t>路程</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5">
                        <a:lumMod val="20000"/>
                        <a:lumOff val="80000"/>
                      </a:schemeClr>
                    </a:solidFill>
                  </a:tcPr>
                </a:tc>
                <a:tc>
                  <a:txBody>
                    <a:bodyPr/>
                    <a:p>
                      <a:pPr algn="l">
                        <a:buClrTx/>
                        <a:buSzTx/>
                        <a:buFontTx/>
                      </a:pPr>
                      <a:r>
                        <a:rPr lang="en-US" altLang="zh-CN" sz="1400" b="0" i="0" dirty="0">
                          <a:latin typeface="微软雅黑" panose="020B0503020204020204" charset="-122"/>
                          <a:ea typeface="微软雅黑" panose="020B0503020204020204" charset="-122"/>
                        </a:rPr>
                        <a:t>距离</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5">
                        <a:lumMod val="20000"/>
                        <a:lumOff val="80000"/>
                      </a:schemeClr>
                    </a:solidFill>
                  </a:tcPr>
                </a:tc>
                <a:tc>
                  <a:txBody>
                    <a:bodyPr/>
                    <a:p>
                      <a:pPr algn="l">
                        <a:buClrTx/>
                        <a:buSzTx/>
                        <a:buFontTx/>
                      </a:pPr>
                      <a:r>
                        <a:rPr lang="en-US" altLang="zh-CN" sz="1400" b="0" i="0" dirty="0">
                          <a:latin typeface="微软雅黑" panose="020B0503020204020204" charset="-122"/>
                          <a:ea typeface="微软雅黑" panose="020B0503020204020204" charset="-122"/>
                        </a:rPr>
                        <a:t>千米</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5">
                        <a:lumMod val="20000"/>
                        <a:lumOff val="80000"/>
                      </a:schemeClr>
                    </a:solidFill>
                  </a:tcPr>
                </a:tc>
                <a:tc vMerge="1">
                  <a:tcPr marL="7937" marR="7937" marT="7937" marB="0" anchor="ctr" anchorCtr="0"/>
                </a:tc>
                <a:tc vMerge="1">
                  <a:tcPr/>
                </a:tc>
                <a:tc vMerge="1">
                  <a:tcPr/>
                </a:tc>
                <a:tc vMerge="1">
                  <a:tcPr/>
                </a:tc>
              </a:tr>
              <a:tr h="408940">
                <a:tc>
                  <a:txBody>
                    <a:bodyPr/>
                    <a:p>
                      <a:pPr algn="ctr">
                        <a:buNone/>
                      </a:pPr>
                      <a:r>
                        <a:rPr lang="en-US" altLang="zh-CN" sz="1400" dirty="0">
                          <a:latin typeface="微软雅黑" panose="020B0503020204020204" charset="-122"/>
                          <a:ea typeface="微软雅黑" panose="020B0503020204020204" charset="-122"/>
                        </a:rPr>
                        <a:t>11</a:t>
                      </a:r>
                      <a:endParaRPr lang="en-US" altLang="zh-CN" sz="1400" dirty="0">
                        <a:latin typeface="微软雅黑" panose="020B0503020204020204" charset="-122"/>
                        <a:ea typeface="微软雅黑" panose="020B0503020204020204" charset="-122"/>
                      </a:endParaRPr>
                    </a:p>
                  </a:txBody>
                  <a:tcPr>
                    <a:solidFill>
                      <a:schemeClr val="accent5">
                        <a:lumMod val="40000"/>
                        <a:lumOff val="60000"/>
                      </a:schemeClr>
                    </a:solidFill>
                  </a:tcPr>
                </a:tc>
                <a:tc>
                  <a:txBody>
                    <a:bodyPr/>
                    <a:p>
                      <a:pPr algn="l">
                        <a:buClrTx/>
                        <a:buSzTx/>
                        <a:buFontTx/>
                      </a:pPr>
                      <a:r>
                        <a:rPr lang="en-US" altLang="zh-CN" sz="1400" b="0" i="0" dirty="0">
                          <a:latin typeface="微软雅黑" panose="020B0503020204020204" charset="-122"/>
                          <a:ea typeface="微软雅黑" panose="020B0503020204020204" charset="-122"/>
                        </a:rPr>
                        <a:t>其他</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4">
                        <a:lumMod val="20000"/>
                        <a:lumOff val="80000"/>
                      </a:schemeClr>
                    </a:solidFill>
                  </a:tcPr>
                </a:tc>
                <a:tc>
                  <a:txBody>
                    <a:bodyPr/>
                    <a:p>
                      <a:pPr algn="l">
                        <a:buClrTx/>
                        <a:buSzTx/>
                        <a:buFontTx/>
                      </a:pPr>
                      <a:r>
                        <a:rPr lang="en-US" altLang="zh-CN" sz="1400" b="0" i="0" dirty="0">
                          <a:latin typeface="微软雅黑" panose="020B0503020204020204" charset="-122"/>
                          <a:ea typeface="微软雅黑" panose="020B0503020204020204" charset="-122"/>
                        </a:rPr>
                        <a:t>其他</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4">
                        <a:lumMod val="20000"/>
                        <a:lumOff val="80000"/>
                      </a:schemeClr>
                    </a:solidFill>
                  </a:tcPr>
                </a:tc>
                <a:tc>
                  <a:txBody>
                    <a:bodyPr/>
                    <a:p>
                      <a:pPr algn="l">
                        <a:buClrTx/>
                        <a:buSzTx/>
                        <a:buFontTx/>
                      </a:pPr>
                      <a:r>
                        <a:rPr lang="en-US" altLang="zh-CN" sz="1400" b="0" i="0" dirty="0">
                          <a:latin typeface="微软雅黑" panose="020B0503020204020204" charset="-122"/>
                          <a:ea typeface="微软雅黑" panose="020B0503020204020204" charset="-122"/>
                        </a:rPr>
                        <a:t>无</a:t>
                      </a:r>
                      <a:endParaRPr lang="en-US" altLang="zh-CN" sz="1400" b="0" i="0" dirty="0">
                        <a:latin typeface="微软雅黑" panose="020B0503020204020204" charset="-122"/>
                        <a:ea typeface="微软雅黑" panose="020B0503020204020204" charset="-122"/>
                      </a:endParaRPr>
                    </a:p>
                  </a:txBody>
                  <a:tcPr marL="7937" marR="7937" marT="7937" marB="0" anchor="ctr" anchorCtr="0">
                    <a:solidFill>
                      <a:schemeClr val="accent4">
                        <a:lumMod val="20000"/>
                        <a:lumOff val="80000"/>
                      </a:schemeClr>
                    </a:solidFill>
                  </a:tcPr>
                </a:tc>
                <a:tc vMerge="1">
                  <a:tcPr marL="7937" marR="7937" marT="7937" marB="0" anchor="ctr" anchorCtr="0"/>
                </a:tc>
                <a:tc vMerge="1">
                  <a:tcPr/>
                </a:tc>
                <a:tc vMerge="1">
                  <a:tcPr/>
                </a:tc>
                <a:tc vMerge="1">
                  <a:tcPr/>
                </a:tc>
              </a:tr>
            </a:tbl>
          </a:graphicData>
        </a:graphic>
      </p:graphicFrame>
      <p:sp>
        <p:nvSpPr>
          <p:cNvPr id="6" name="文本框 5"/>
          <p:cNvSpPr txBox="1"/>
          <p:nvPr/>
        </p:nvSpPr>
        <p:spPr>
          <a:xfrm>
            <a:off x="271145" y="1061085"/>
            <a:ext cx="4879975" cy="368300"/>
          </a:xfrm>
          <a:prstGeom prst="rect">
            <a:avLst/>
          </a:prstGeom>
          <a:noFill/>
        </p:spPr>
        <p:txBody>
          <a:bodyPr wrap="square" rtlCol="0">
            <a:spAutoFit/>
          </a:bodyPr>
          <a:p>
            <a:r>
              <a:rPr lang="zh-CN" altLang="en-US"/>
              <a:t>根据</a:t>
            </a:r>
            <a:r>
              <a:rPr lang="en-US" altLang="zh-CN"/>
              <a:t>“</a:t>
            </a:r>
            <a:r>
              <a:rPr lang="zh-CN" altLang="en-US"/>
              <a:t>体被</a:t>
            </a:r>
            <a:r>
              <a:rPr lang="en-US" altLang="zh-CN"/>
              <a:t>”</a:t>
            </a:r>
            <a:r>
              <a:rPr lang="zh-CN" altLang="en-US"/>
              <a:t>项目收费标准进行分类，如下：</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流程图: 手动输入 1"/>
          <p:cNvSpPr/>
          <p:nvPr/>
        </p:nvSpPr>
        <p:spPr>
          <a:xfrm rot="5400000">
            <a:off x="461963" y="39688"/>
            <a:ext cx="595312" cy="1524000"/>
          </a:xfrm>
          <a:prstGeom prst="flowChartManualInput">
            <a:avLst/>
          </a:prstGeom>
          <a:solidFill>
            <a:srgbClr val="C00000"/>
          </a:solidFill>
          <a:ln w="12700">
            <a:noFill/>
          </a:ln>
        </p:spPr>
        <p:txBody>
          <a:bodyPr anchor="ctr"/>
          <a:lstStyle/>
          <a:p>
            <a:pPr indent="0" algn="ctr"/>
            <a:endParaRPr lang="zh-CN" altLang="zh-CN">
              <a:solidFill>
                <a:srgbClr val="FFFFFF"/>
              </a:solidFill>
              <a:latin typeface="Arial" panose="020B0604020202020204" pitchFamily="34" charset="0"/>
              <a:ea typeface="宋体" panose="02010600030101010101" pitchFamily="2" charset="-122"/>
            </a:endParaRPr>
          </a:p>
        </p:txBody>
      </p:sp>
      <p:sp>
        <p:nvSpPr>
          <p:cNvPr id="1048657" name="TextBox 17"/>
          <p:cNvSpPr/>
          <p:nvPr/>
        </p:nvSpPr>
        <p:spPr>
          <a:xfrm>
            <a:off x="1376998" y="387985"/>
            <a:ext cx="1868170" cy="711200"/>
          </a:xfrm>
          <a:prstGeom prst="rect">
            <a:avLst/>
          </a:prstGeom>
          <a:noFill/>
          <a:ln w="9525">
            <a:noFill/>
          </a:ln>
        </p:spPr>
        <p:txBody>
          <a:bodyPr wrap="none" lIns="121917" tIns="60958" rIns="121917" bIns="60958" anchor="t">
            <a:spAutoFit/>
          </a:bodyPr>
          <a:lstStyle/>
          <a:p>
            <a:pPr>
              <a:lnSpc>
                <a:spcPct val="120000"/>
              </a:lnSpc>
            </a:pPr>
            <a:r>
              <a:rPr lang="zh-CN" sz="3200" dirty="0" smtClean="0">
                <a:solidFill>
                  <a:schemeClr val="dk1"/>
                </a:solidFill>
                <a:latin typeface="微软雅黑" panose="020B0503020204020204" charset="-122"/>
                <a:ea typeface="微软雅黑" panose="020B0503020204020204" charset="-122"/>
              </a:rPr>
              <a:t>物价维护</a:t>
            </a:r>
            <a:endParaRPr lang="zh-CN" sz="3200" dirty="0" smtClean="0">
              <a:solidFill>
                <a:schemeClr val="dk1"/>
              </a:solidFill>
              <a:latin typeface="微软雅黑" panose="020B0503020204020204" charset="-122"/>
              <a:ea typeface="微软雅黑" panose="020B0503020204020204" charset="-122"/>
            </a:endParaRPr>
          </a:p>
        </p:txBody>
      </p:sp>
      <p:sp>
        <p:nvSpPr>
          <p:cNvPr id="2" name="文本框 1"/>
          <p:cNvSpPr txBox="1"/>
          <p:nvPr/>
        </p:nvSpPr>
        <p:spPr>
          <a:xfrm>
            <a:off x="191770" y="1962785"/>
            <a:ext cx="3669030" cy="3138170"/>
          </a:xfrm>
          <a:prstGeom prst="rect">
            <a:avLst/>
          </a:prstGeom>
          <a:noFill/>
        </p:spPr>
        <p:txBody>
          <a:bodyPr wrap="square" rtlCol="0">
            <a:spAutoFit/>
          </a:bodyPr>
          <a:p>
            <a:r>
              <a:rPr lang="en-US" altLang="zh-CN">
                <a:latin typeface="黑体" panose="02010609060101010101" charset="-122"/>
                <a:ea typeface="黑体" panose="02010609060101010101" charset="-122"/>
                <a:cs typeface="黑体" panose="02010609060101010101" charset="-122"/>
              </a:rPr>
              <a:t>1</a:t>
            </a:r>
            <a:r>
              <a:rPr lang="zh-CN" altLang="en-US">
                <a:latin typeface="黑体" panose="02010609060101010101" charset="-122"/>
                <a:ea typeface="黑体" panose="02010609060101010101" charset="-122"/>
                <a:cs typeface="黑体" panose="02010609060101010101" charset="-122"/>
              </a:rPr>
              <a:t>、非药品基本信息维护新增</a:t>
            </a:r>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a:t>
            </a:r>
            <a:r>
              <a:rPr lang="zh-CN" altLang="en-US" b="1">
                <a:solidFill>
                  <a:srgbClr val="FF0000"/>
                </a:solidFill>
                <a:latin typeface="黑体" panose="02010609060101010101" charset="-122"/>
                <a:ea typeface="黑体" panose="02010609060101010101" charset="-122"/>
                <a:cs typeface="黑体" panose="02010609060101010101" charset="-122"/>
              </a:rPr>
              <a:t>特殊项目</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标识和</a:t>
            </a:r>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a:t>
            </a:r>
            <a:r>
              <a:rPr lang="zh-CN" altLang="en-US" b="1">
                <a:solidFill>
                  <a:srgbClr val="FF0000"/>
                </a:solidFill>
                <a:latin typeface="黑体" panose="02010609060101010101" charset="-122"/>
                <a:ea typeface="黑体" panose="02010609060101010101" charset="-122"/>
                <a:cs typeface="黑体" panose="02010609060101010101" charset="-122"/>
              </a:rPr>
              <a:t>收费上限额</a:t>
            </a:r>
            <a:r>
              <a:rPr lang="en-US" altLang="zh-CN">
                <a:latin typeface="黑体" panose="02010609060101010101" charset="-122"/>
                <a:ea typeface="黑体" panose="02010609060101010101" charset="-122"/>
                <a:cs typeface="黑体" panose="02010609060101010101" charset="-122"/>
              </a:rPr>
              <a:t> ”</a:t>
            </a:r>
            <a:r>
              <a:rPr lang="zh-CN" altLang="en-US">
                <a:latin typeface="黑体" panose="02010609060101010101" charset="-122"/>
                <a:ea typeface="黑体" panose="02010609060101010101" charset="-122"/>
                <a:cs typeface="黑体" panose="02010609060101010101" charset="-122"/>
              </a:rPr>
              <a:t>；</a:t>
            </a:r>
            <a:endParaRPr lang="zh-CN" altLang="en-US">
              <a:latin typeface="黑体" panose="02010609060101010101" charset="-122"/>
              <a:ea typeface="黑体" panose="02010609060101010101" charset="-122"/>
              <a:cs typeface="黑体" panose="02010609060101010101" charset="-122"/>
            </a:endParaRPr>
          </a:p>
          <a:p>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2</a:t>
            </a:r>
            <a:r>
              <a:rPr lang="zh-CN" altLang="en-US">
                <a:latin typeface="黑体" panose="02010609060101010101" charset="-122"/>
                <a:ea typeface="黑体" panose="02010609060101010101" charset="-122"/>
                <a:cs typeface="黑体" panose="02010609060101010101" charset="-122"/>
              </a:rPr>
              <a:t>、支持存在</a:t>
            </a:r>
            <a:r>
              <a:rPr lang="en-US" altLang="zh-CN">
                <a:latin typeface="黑体" panose="02010609060101010101" charset="-122"/>
                <a:ea typeface="黑体" panose="02010609060101010101" charset="-122"/>
                <a:cs typeface="黑体" panose="02010609060101010101" charset="-122"/>
              </a:rPr>
              <a:t>“</a:t>
            </a:r>
            <a:r>
              <a:rPr lang="zh-CN" altLang="en-US" b="1">
                <a:solidFill>
                  <a:srgbClr val="FF0000"/>
                </a:solidFill>
                <a:latin typeface="黑体" panose="02010609060101010101" charset="-122"/>
                <a:ea typeface="黑体" panose="02010609060101010101" charset="-122"/>
                <a:cs typeface="黑体" panose="02010609060101010101" charset="-122"/>
              </a:rPr>
              <a:t>特殊项目</a:t>
            </a:r>
            <a:r>
              <a:rPr lang="en-US" altLang="zh-CN">
                <a:latin typeface="黑体" panose="02010609060101010101" charset="-122"/>
                <a:ea typeface="黑体" panose="02010609060101010101" charset="-122"/>
                <a:cs typeface="黑体" panose="02010609060101010101" charset="-122"/>
              </a:rPr>
              <a:t>”</a:t>
            </a:r>
            <a:endParaRPr lang="en-US" altLang="zh-CN">
              <a:latin typeface="黑体" panose="02010609060101010101" charset="-122"/>
              <a:ea typeface="黑体" panose="02010609060101010101" charset="-122"/>
              <a:cs typeface="黑体" panose="02010609060101010101" charset="-122"/>
            </a:endParaRPr>
          </a:p>
          <a:p>
            <a:r>
              <a:rPr lang="zh-CN" altLang="en-US">
                <a:latin typeface="黑体" panose="02010609060101010101" charset="-122"/>
                <a:ea typeface="黑体" panose="02010609060101010101" charset="-122"/>
                <a:cs typeface="黑体" panose="02010609060101010101" charset="-122"/>
              </a:rPr>
              <a:t>标识的项目，才调用计价收费</a:t>
            </a:r>
            <a:endParaRPr lang="zh-CN" altLang="en-US">
              <a:latin typeface="黑体" panose="02010609060101010101" charset="-122"/>
              <a:ea typeface="黑体" panose="02010609060101010101" charset="-122"/>
              <a:cs typeface="黑体" panose="02010609060101010101" charset="-122"/>
            </a:endParaRPr>
          </a:p>
          <a:p>
            <a:r>
              <a:rPr lang="zh-CN" altLang="en-US">
                <a:latin typeface="黑体" panose="02010609060101010101" charset="-122"/>
                <a:ea typeface="黑体" panose="02010609060101010101" charset="-122"/>
                <a:cs typeface="黑体" panose="02010609060101010101" charset="-122"/>
              </a:rPr>
              <a:t>界面；</a:t>
            </a:r>
            <a:endParaRPr lang="zh-CN" altLang="en-US">
              <a:latin typeface="黑体" panose="02010609060101010101" charset="-122"/>
              <a:ea typeface="黑体" panose="02010609060101010101" charset="-122"/>
              <a:cs typeface="黑体" panose="02010609060101010101" charset="-122"/>
            </a:endParaRPr>
          </a:p>
          <a:p>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3</a:t>
            </a:r>
            <a:r>
              <a:rPr lang="zh-CN" altLang="en-US">
                <a:latin typeface="黑体" panose="02010609060101010101" charset="-122"/>
                <a:ea typeface="黑体" panose="02010609060101010101" charset="-122"/>
                <a:cs typeface="黑体" panose="02010609060101010101" charset="-122"/>
              </a:rPr>
              <a:t>、输入</a:t>
            </a:r>
            <a:r>
              <a:rPr lang="en-US" altLang="zh-CN">
                <a:latin typeface="黑体" panose="02010609060101010101" charset="-122"/>
                <a:ea typeface="黑体" panose="02010609060101010101" charset="-122"/>
                <a:cs typeface="黑体" panose="02010609060101010101" charset="-122"/>
              </a:rPr>
              <a:t>“</a:t>
            </a:r>
            <a:r>
              <a:rPr lang="zh-CN" altLang="en-US" b="1">
                <a:solidFill>
                  <a:srgbClr val="FF0000"/>
                </a:solidFill>
                <a:latin typeface="黑体" panose="02010609060101010101" charset="-122"/>
                <a:ea typeface="黑体" panose="02010609060101010101" charset="-122"/>
                <a:cs typeface="黑体" panose="02010609060101010101" charset="-122"/>
              </a:rPr>
              <a:t>收费上限额</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回车，</a:t>
            </a:r>
            <a:endParaRPr lang="zh-CN" altLang="en-US">
              <a:latin typeface="黑体" panose="02010609060101010101" charset="-122"/>
              <a:ea typeface="黑体" panose="02010609060101010101" charset="-122"/>
              <a:cs typeface="黑体" panose="02010609060101010101" charset="-122"/>
            </a:endParaRPr>
          </a:p>
          <a:p>
            <a:r>
              <a:rPr lang="zh-CN" altLang="en-US">
                <a:latin typeface="黑体" panose="02010609060101010101" charset="-122"/>
                <a:ea typeface="黑体" panose="02010609060101010101" charset="-122"/>
                <a:cs typeface="黑体" panose="02010609060101010101" charset="-122"/>
              </a:rPr>
              <a:t>系统自动算出单次收费上限数</a:t>
            </a:r>
            <a:endParaRPr lang="zh-CN" altLang="en-US">
              <a:latin typeface="黑体" panose="02010609060101010101" charset="-122"/>
              <a:ea typeface="黑体" panose="02010609060101010101" charset="-122"/>
              <a:cs typeface="黑体" panose="02010609060101010101" charset="-122"/>
            </a:endParaRPr>
          </a:p>
          <a:p>
            <a:r>
              <a:rPr lang="zh-CN" altLang="en-US">
                <a:latin typeface="黑体" panose="02010609060101010101" charset="-122"/>
                <a:ea typeface="黑体" panose="02010609060101010101" charset="-122"/>
                <a:cs typeface="黑体" panose="02010609060101010101" charset="-122"/>
              </a:rPr>
              <a:t>量（除不尽，取小数点</a:t>
            </a:r>
            <a:r>
              <a:rPr lang="en-US" altLang="zh-CN">
                <a:latin typeface="黑体" panose="02010609060101010101" charset="-122"/>
                <a:ea typeface="黑体" panose="02010609060101010101" charset="-122"/>
                <a:cs typeface="黑体" panose="02010609060101010101" charset="-122"/>
              </a:rPr>
              <a:t>1</a:t>
            </a:r>
            <a:r>
              <a:rPr lang="zh-CN" altLang="en-US">
                <a:latin typeface="黑体" panose="02010609060101010101" charset="-122"/>
                <a:ea typeface="黑体" panose="02010609060101010101" charset="-122"/>
                <a:cs typeface="黑体" panose="02010609060101010101" charset="-122"/>
              </a:rPr>
              <a:t>位）；</a:t>
            </a:r>
            <a:endParaRPr lang="zh-CN" altLang="en-US">
              <a:latin typeface="黑体" panose="02010609060101010101" charset="-122"/>
              <a:ea typeface="黑体" panose="02010609060101010101" charset="-122"/>
              <a:cs typeface="黑体" panose="02010609060101010101" charset="-122"/>
            </a:endParaRPr>
          </a:p>
        </p:txBody>
      </p:sp>
      <p:pic>
        <p:nvPicPr>
          <p:cNvPr id="7" name="图片 6"/>
          <p:cNvPicPr>
            <a:picLocks noChangeAspect="1"/>
          </p:cNvPicPr>
          <p:nvPr/>
        </p:nvPicPr>
        <p:blipFill>
          <a:blip r:embed="rId1"/>
          <a:stretch>
            <a:fillRect/>
          </a:stretch>
        </p:blipFill>
        <p:spPr>
          <a:xfrm>
            <a:off x="3367405" y="1212215"/>
            <a:ext cx="8822055" cy="5361940"/>
          </a:xfrm>
          <a:prstGeom prst="rect">
            <a:avLst/>
          </a:prstGeom>
        </p:spPr>
      </p:pic>
      <p:sp>
        <p:nvSpPr>
          <p:cNvPr id="9" name="矩形 8"/>
          <p:cNvSpPr/>
          <p:nvPr/>
        </p:nvSpPr>
        <p:spPr>
          <a:xfrm>
            <a:off x="7520940" y="3510915"/>
            <a:ext cx="2921635" cy="277495"/>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矩形 9"/>
          <p:cNvSpPr/>
          <p:nvPr/>
        </p:nvSpPr>
        <p:spPr>
          <a:xfrm>
            <a:off x="11103610" y="5314950"/>
            <a:ext cx="886460" cy="277495"/>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矩形 10"/>
          <p:cNvSpPr/>
          <p:nvPr/>
        </p:nvSpPr>
        <p:spPr>
          <a:xfrm>
            <a:off x="8966835" y="5037455"/>
            <a:ext cx="712470" cy="277495"/>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2" name="矩形 11"/>
          <p:cNvSpPr/>
          <p:nvPr/>
        </p:nvSpPr>
        <p:spPr>
          <a:xfrm>
            <a:off x="8849360" y="5593080"/>
            <a:ext cx="1104900" cy="206375"/>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流程图: 手动输入 1"/>
          <p:cNvSpPr/>
          <p:nvPr/>
        </p:nvSpPr>
        <p:spPr>
          <a:xfrm rot="5400000">
            <a:off x="461963" y="39688"/>
            <a:ext cx="595312" cy="1524000"/>
          </a:xfrm>
          <a:prstGeom prst="flowChartManualInput">
            <a:avLst/>
          </a:prstGeom>
          <a:solidFill>
            <a:srgbClr val="C00000"/>
          </a:solidFill>
          <a:ln w="12700">
            <a:noFill/>
          </a:ln>
        </p:spPr>
        <p:txBody>
          <a:bodyPr anchor="ctr"/>
          <a:lstStyle/>
          <a:p>
            <a:pPr indent="0" algn="ctr"/>
            <a:endParaRPr lang="zh-CN" altLang="zh-CN">
              <a:solidFill>
                <a:srgbClr val="FFFFFF"/>
              </a:solidFill>
              <a:latin typeface="Arial" panose="020B0604020202020204" pitchFamily="34" charset="0"/>
              <a:ea typeface="宋体" panose="02010600030101010101" pitchFamily="2" charset="-122"/>
            </a:endParaRPr>
          </a:p>
        </p:txBody>
      </p:sp>
      <p:sp>
        <p:nvSpPr>
          <p:cNvPr id="1048657" name="TextBox 17"/>
          <p:cNvSpPr/>
          <p:nvPr/>
        </p:nvSpPr>
        <p:spPr>
          <a:xfrm>
            <a:off x="1376998" y="387985"/>
            <a:ext cx="1868170" cy="711200"/>
          </a:xfrm>
          <a:prstGeom prst="rect">
            <a:avLst/>
          </a:prstGeom>
          <a:noFill/>
          <a:ln w="9525">
            <a:noFill/>
          </a:ln>
        </p:spPr>
        <p:txBody>
          <a:bodyPr wrap="none" lIns="121917" tIns="60958" rIns="121917" bIns="60958" anchor="t">
            <a:spAutoFit/>
          </a:bodyPr>
          <a:lstStyle/>
          <a:p>
            <a:pPr>
              <a:lnSpc>
                <a:spcPct val="120000"/>
              </a:lnSpc>
            </a:pPr>
            <a:r>
              <a:rPr lang="zh-CN" sz="3200" dirty="0" smtClean="0">
                <a:solidFill>
                  <a:schemeClr val="dk1"/>
                </a:solidFill>
                <a:latin typeface="微软雅黑" panose="020B0503020204020204" charset="-122"/>
                <a:ea typeface="微软雅黑" panose="020B0503020204020204" charset="-122"/>
              </a:rPr>
              <a:t>物价维护</a:t>
            </a:r>
            <a:endParaRPr lang="zh-CN" sz="3200" dirty="0" smtClean="0">
              <a:solidFill>
                <a:schemeClr val="dk1"/>
              </a:solidFill>
              <a:latin typeface="微软雅黑" panose="020B0503020204020204" charset="-122"/>
              <a:ea typeface="微软雅黑" panose="020B0503020204020204" charset="-122"/>
            </a:endParaRPr>
          </a:p>
        </p:txBody>
      </p:sp>
      <p:sp>
        <p:nvSpPr>
          <p:cNvPr id="2" name="文本框 1"/>
          <p:cNvSpPr txBox="1"/>
          <p:nvPr/>
        </p:nvSpPr>
        <p:spPr>
          <a:xfrm>
            <a:off x="92075" y="2144395"/>
            <a:ext cx="4900295" cy="3415030"/>
          </a:xfrm>
          <a:prstGeom prst="rect">
            <a:avLst/>
          </a:prstGeom>
          <a:noFill/>
        </p:spPr>
        <p:txBody>
          <a:bodyPr wrap="square" rtlCol="0">
            <a:spAutoFit/>
          </a:bodyPr>
          <a:p>
            <a:r>
              <a:rPr lang="en-US">
                <a:latin typeface="黑体" panose="02010609060101010101" charset="-122"/>
                <a:ea typeface="黑体" panose="02010609060101010101" charset="-122"/>
                <a:cs typeface="黑体" panose="02010609060101010101" charset="-122"/>
              </a:rPr>
              <a:t>1</a:t>
            </a:r>
            <a:r>
              <a:rPr lang="zh-CN" altLang="en-US">
                <a:latin typeface="黑体" panose="02010609060101010101" charset="-122"/>
                <a:ea typeface="黑体" panose="02010609060101010101" charset="-122"/>
                <a:cs typeface="黑体" panose="02010609060101010101" charset="-122"/>
              </a:rPr>
              <a:t>、新增</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计价参数</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设置；</a:t>
            </a:r>
            <a:endParaRPr lang="zh-CN" altLang="en-US">
              <a:latin typeface="黑体" panose="02010609060101010101" charset="-122"/>
              <a:ea typeface="黑体" panose="02010609060101010101" charset="-122"/>
              <a:cs typeface="黑体" panose="02010609060101010101" charset="-122"/>
            </a:endParaRPr>
          </a:p>
          <a:p>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2</a:t>
            </a:r>
            <a:r>
              <a:rPr lang="zh-CN" altLang="en-US">
                <a:latin typeface="黑体" panose="02010609060101010101" charset="-122"/>
                <a:ea typeface="黑体" panose="02010609060101010101" charset="-122"/>
                <a:cs typeface="黑体" panose="02010609060101010101" charset="-122"/>
              </a:rPr>
              <a:t>、</a:t>
            </a:r>
            <a:r>
              <a:rPr lang="zh-CN">
                <a:latin typeface="黑体" panose="02010609060101010101" charset="-122"/>
                <a:ea typeface="黑体" panose="02010609060101010101" charset="-122"/>
                <a:cs typeface="黑体" panose="02010609060101010101" charset="-122"/>
              </a:rPr>
              <a:t>设置项目计价类型、计价部位、基础计价量、单位、计价数量计价公式；</a:t>
            </a:r>
            <a:endParaRPr lang="zh-CN">
              <a:latin typeface="黑体" panose="02010609060101010101" charset="-122"/>
              <a:ea typeface="黑体" panose="02010609060101010101" charset="-122"/>
              <a:cs typeface="黑体" panose="02010609060101010101" charset="-122"/>
            </a:endParaRPr>
          </a:p>
          <a:p>
            <a:endParaRPr 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3</a:t>
            </a:r>
            <a:r>
              <a:rPr lang="zh-CN" altLang="en-US">
                <a:latin typeface="黑体" panose="02010609060101010101" charset="-122"/>
                <a:ea typeface="黑体" panose="02010609060101010101" charset="-122"/>
                <a:cs typeface="黑体" panose="02010609060101010101" charset="-122"/>
              </a:rPr>
              <a:t>、输入改项目计价规则；</a:t>
            </a:r>
            <a:endParaRPr lang="zh-CN" altLang="en-US">
              <a:latin typeface="黑体" panose="02010609060101010101" charset="-122"/>
              <a:ea typeface="黑体" panose="02010609060101010101" charset="-122"/>
              <a:cs typeface="黑体" panose="02010609060101010101" charset="-122"/>
            </a:endParaRPr>
          </a:p>
          <a:p>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4</a:t>
            </a:r>
            <a:r>
              <a:rPr lang="zh-CN" altLang="en-US">
                <a:latin typeface="黑体" panose="02010609060101010101" charset="-122"/>
                <a:ea typeface="黑体" panose="02010609060101010101" charset="-122"/>
                <a:cs typeface="黑体" panose="02010609060101010101" charset="-122"/>
              </a:rPr>
              <a:t>、同项目，存在不同部位不同计价方式，支持维护多条计价方式；</a:t>
            </a:r>
            <a:endParaRPr lang="zh-CN" altLang="en-US">
              <a:latin typeface="黑体" panose="02010609060101010101" charset="-122"/>
              <a:ea typeface="黑体" panose="02010609060101010101" charset="-122"/>
              <a:cs typeface="黑体" panose="02010609060101010101" charset="-122"/>
            </a:endParaRPr>
          </a:p>
          <a:p>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5</a:t>
            </a:r>
            <a:r>
              <a:rPr lang="zh-CN" altLang="en-US">
                <a:latin typeface="黑体" panose="02010609060101010101" charset="-122"/>
                <a:ea typeface="黑体" panose="02010609060101010101" charset="-122"/>
                <a:cs typeface="黑体" panose="02010609060101010101" charset="-122"/>
              </a:rPr>
              <a:t>、支持维护项目计价公式；</a:t>
            </a:r>
            <a:endParaRPr lang="zh-CN" altLang="en-US">
              <a:latin typeface="黑体" panose="02010609060101010101" charset="-122"/>
              <a:ea typeface="黑体" panose="02010609060101010101" charset="-122"/>
              <a:cs typeface="黑体" panose="02010609060101010101" charset="-122"/>
            </a:endParaRPr>
          </a:p>
          <a:p>
            <a:endParaRPr lang="zh-CN" altLang="en-US">
              <a:latin typeface="黑体" panose="02010609060101010101" charset="-122"/>
              <a:ea typeface="黑体" panose="02010609060101010101" charset="-122"/>
              <a:cs typeface="黑体" panose="02010609060101010101" charset="-122"/>
            </a:endParaRPr>
          </a:p>
        </p:txBody>
      </p:sp>
      <p:pic>
        <p:nvPicPr>
          <p:cNvPr id="7" name="图片 6"/>
          <p:cNvPicPr>
            <a:picLocks noChangeAspect="1"/>
          </p:cNvPicPr>
          <p:nvPr/>
        </p:nvPicPr>
        <p:blipFill>
          <a:blip r:embed="rId1"/>
          <a:stretch>
            <a:fillRect/>
          </a:stretch>
        </p:blipFill>
        <p:spPr>
          <a:xfrm>
            <a:off x="5180965" y="857250"/>
            <a:ext cx="6011545" cy="5924550"/>
          </a:xfrm>
          <a:prstGeom prst="rect">
            <a:avLst/>
          </a:prstGeom>
        </p:spPr>
      </p:pic>
      <p:sp>
        <p:nvSpPr>
          <p:cNvPr id="9" name="矩形 8"/>
          <p:cNvSpPr/>
          <p:nvPr/>
        </p:nvSpPr>
        <p:spPr>
          <a:xfrm>
            <a:off x="9318625" y="1099185"/>
            <a:ext cx="723265" cy="287020"/>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矩形 9"/>
          <p:cNvSpPr/>
          <p:nvPr/>
        </p:nvSpPr>
        <p:spPr>
          <a:xfrm>
            <a:off x="5180965" y="857250"/>
            <a:ext cx="6011545" cy="5924550"/>
          </a:xfrm>
          <a:prstGeom prst="rect">
            <a:avLst/>
          </a:prstGeom>
          <a:ln w="19050"/>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 name="矩形 3"/>
          <p:cNvSpPr/>
          <p:nvPr/>
        </p:nvSpPr>
        <p:spPr>
          <a:xfrm>
            <a:off x="5379085" y="2076450"/>
            <a:ext cx="2919730" cy="254635"/>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 name="矩形 4"/>
          <p:cNvSpPr/>
          <p:nvPr/>
        </p:nvSpPr>
        <p:spPr>
          <a:xfrm>
            <a:off x="5379085" y="2458085"/>
            <a:ext cx="2919730" cy="254635"/>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矩形 5"/>
          <p:cNvSpPr/>
          <p:nvPr/>
        </p:nvSpPr>
        <p:spPr>
          <a:xfrm>
            <a:off x="5379085" y="1694815"/>
            <a:ext cx="2919730" cy="254635"/>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8" name="直接箭头连接符 7"/>
          <p:cNvCxnSpPr>
            <a:stCxn id="6" idx="1"/>
          </p:cNvCxnSpPr>
          <p:nvPr/>
        </p:nvCxnSpPr>
        <p:spPr>
          <a:xfrm flipH="1" flipV="1">
            <a:off x="4817745" y="1386205"/>
            <a:ext cx="561340" cy="436245"/>
          </a:xfrm>
          <a:prstGeom prst="straightConnector1">
            <a:avLst/>
          </a:prstGeom>
          <a:ln w="31750" cap="rnd">
            <a:solidFill>
              <a:srgbClr val="FF0000"/>
            </a:solidFill>
            <a:prstDash val="sysDash"/>
            <a:round/>
            <a:tailEnd type="arrow" w="med" len="med"/>
          </a:ln>
        </p:spPr>
        <p:style>
          <a:lnRef idx="0">
            <a:srgbClr val="FFFFFF"/>
          </a:lnRef>
          <a:fillRef idx="0">
            <a:srgbClr val="FFFFFF"/>
          </a:fillRef>
          <a:effectRef idx="0">
            <a:srgbClr val="FFFFFF"/>
          </a:effectRef>
          <a:fontRef idx="minor">
            <a:schemeClr val="tx1"/>
          </a:fontRef>
        </p:style>
      </p:cxnSp>
      <p:sp>
        <p:nvSpPr>
          <p:cNvPr id="13" name="文本框 12"/>
          <p:cNvSpPr txBox="1"/>
          <p:nvPr/>
        </p:nvSpPr>
        <p:spPr>
          <a:xfrm>
            <a:off x="3176270" y="986790"/>
            <a:ext cx="1641475" cy="511810"/>
          </a:xfrm>
          <a:prstGeom prst="rect">
            <a:avLst/>
          </a:prstGeom>
          <a:noFill/>
          <a:ln w="19050">
            <a:solidFill>
              <a:srgbClr val="FF0000"/>
            </a:solidFill>
            <a:prstDash val="sysDash"/>
          </a:ln>
        </p:spPr>
        <p:txBody>
          <a:bodyPr wrap="square" rtlCol="0">
            <a:noAutofit/>
          </a:bodyPr>
          <a:p>
            <a:r>
              <a:rPr lang="zh-CN" altLang="en-US" sz="1400">
                <a:latin typeface="微软雅黑" panose="020B0503020204020204" charset="-122"/>
                <a:ea typeface="微软雅黑" panose="020B0503020204020204" charset="-122"/>
                <a:cs typeface="微软雅黑" panose="020B0503020204020204" charset="-122"/>
              </a:rPr>
              <a:t>可选</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面积、周长、</a:t>
            </a:r>
            <a:endParaRPr lang="zh-CN" altLang="en-US" sz="1400">
              <a:latin typeface="微软雅黑" panose="020B0503020204020204" charset="-122"/>
              <a:ea typeface="微软雅黑" panose="020B0503020204020204" charset="-122"/>
              <a:cs typeface="微软雅黑" panose="020B0503020204020204" charset="-122"/>
            </a:endParaRPr>
          </a:p>
          <a:p>
            <a:r>
              <a:rPr lang="zh-CN" altLang="en-US" sz="1400">
                <a:latin typeface="微软雅黑" panose="020B0503020204020204" charset="-122"/>
                <a:ea typeface="微软雅黑" panose="020B0503020204020204" charset="-122"/>
                <a:cs typeface="微软雅黑" panose="020B0503020204020204" charset="-122"/>
              </a:rPr>
              <a:t>数量、路程、其他</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a:off x="8122285" y="157480"/>
            <a:ext cx="2753995" cy="619760"/>
          </a:xfrm>
          <a:prstGeom prst="rect">
            <a:avLst/>
          </a:prstGeom>
          <a:noFill/>
          <a:ln w="19050">
            <a:solidFill>
              <a:srgbClr val="FF0000"/>
            </a:solidFill>
            <a:prstDash val="sysDash"/>
          </a:ln>
        </p:spPr>
        <p:txBody>
          <a:bodyPr wrap="square" rtlCol="0">
            <a:noAutofit/>
          </a:bodyPr>
          <a:p>
            <a:r>
              <a:rPr lang="zh-CN" altLang="en-US" sz="1400">
                <a:latin typeface="微软雅黑" panose="020B0503020204020204" charset="-122"/>
                <a:ea typeface="微软雅黑" panose="020B0503020204020204" charset="-122"/>
                <a:cs typeface="微软雅黑" panose="020B0503020204020204" charset="-122"/>
              </a:rPr>
              <a:t>可选</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表皮、瘢痕、皮肤、肿物、头部、躯干、皮瓣、距离、其他</a:t>
            </a:r>
            <a:endParaRPr lang="zh-CN" altLang="en-US" sz="1400">
              <a:latin typeface="微软雅黑" panose="020B0503020204020204" charset="-122"/>
              <a:ea typeface="微软雅黑" panose="020B0503020204020204" charset="-122"/>
              <a:cs typeface="微软雅黑" panose="020B0503020204020204" charset="-122"/>
            </a:endParaRPr>
          </a:p>
        </p:txBody>
      </p:sp>
      <p:cxnSp>
        <p:nvCxnSpPr>
          <p:cNvPr id="16" name="直接箭头连接符 15"/>
          <p:cNvCxnSpPr>
            <a:endCxn id="14" idx="2"/>
          </p:cNvCxnSpPr>
          <p:nvPr/>
        </p:nvCxnSpPr>
        <p:spPr>
          <a:xfrm flipV="1">
            <a:off x="8298815" y="777240"/>
            <a:ext cx="1200785" cy="1367155"/>
          </a:xfrm>
          <a:prstGeom prst="straightConnector1">
            <a:avLst/>
          </a:prstGeom>
          <a:ln w="28575">
            <a:solidFill>
              <a:srgbClr val="FF0000"/>
            </a:solidFill>
            <a:prstDash val="sysDash"/>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9602470" y="1597660"/>
            <a:ext cx="1714500" cy="560070"/>
          </a:xfrm>
          <a:prstGeom prst="rect">
            <a:avLst/>
          </a:prstGeom>
          <a:noFill/>
          <a:ln w="19050">
            <a:solidFill>
              <a:srgbClr val="FF0000"/>
            </a:solidFill>
            <a:prstDash val="sysDash"/>
          </a:ln>
        </p:spPr>
        <p:txBody>
          <a:bodyPr wrap="square" rtlCol="0">
            <a:noAutofit/>
          </a:bodyPr>
          <a:p>
            <a:r>
              <a:rPr lang="zh-CN" sz="1400">
                <a:latin typeface="微软雅黑" panose="020B0503020204020204" charset="-122"/>
                <a:ea typeface="微软雅黑" panose="020B0503020204020204" charset="-122"/>
                <a:cs typeface="微软雅黑" panose="020B0503020204020204" charset="-122"/>
              </a:rPr>
              <a:t>输入换算数量，如</a:t>
            </a:r>
            <a:r>
              <a:rPr lang="en-US" altLang="zh-CN" sz="1400">
                <a:latin typeface="微软雅黑" panose="020B0503020204020204" charset="-122"/>
                <a:ea typeface="微软雅黑" panose="020B0503020204020204" charset="-122"/>
                <a:cs typeface="微软雅黑" panose="020B0503020204020204" charset="-122"/>
              </a:rPr>
              <a:t>9</a:t>
            </a:r>
            <a:r>
              <a:rPr lang="zh-CN" altLang="en-US" sz="1400">
                <a:latin typeface="微软雅黑" panose="020B0503020204020204" charset="-122"/>
                <a:ea typeface="微软雅黑" panose="020B0503020204020204" charset="-122"/>
                <a:cs typeface="微软雅黑" panose="020B0503020204020204" charset="-122"/>
              </a:rPr>
              <a:t>平方厘米收</a:t>
            </a:r>
            <a:r>
              <a:rPr lang="en-US" altLang="zh-CN" sz="1400">
                <a:latin typeface="微软雅黑" panose="020B0503020204020204" charset="-122"/>
                <a:ea typeface="微软雅黑" panose="020B0503020204020204" charset="-122"/>
                <a:cs typeface="微软雅黑" panose="020B0503020204020204" charset="-122"/>
              </a:rPr>
              <a:t>1</a:t>
            </a:r>
            <a:r>
              <a:rPr lang="zh-CN" altLang="en-US" sz="1400">
                <a:latin typeface="微软雅黑" panose="020B0503020204020204" charset="-122"/>
                <a:ea typeface="微软雅黑" panose="020B0503020204020204" charset="-122"/>
                <a:cs typeface="微软雅黑" panose="020B0503020204020204" charset="-122"/>
              </a:rPr>
              <a:t>个</a:t>
            </a:r>
            <a:endParaRPr lang="zh-CN" altLang="en-US" sz="1400">
              <a:latin typeface="微软雅黑" panose="020B0503020204020204" charset="-122"/>
              <a:ea typeface="微软雅黑" panose="020B0503020204020204" charset="-122"/>
              <a:cs typeface="微软雅黑" panose="020B0503020204020204" charset="-122"/>
            </a:endParaRPr>
          </a:p>
        </p:txBody>
      </p:sp>
      <p:cxnSp>
        <p:nvCxnSpPr>
          <p:cNvPr id="18" name="直接箭头连接符 17"/>
          <p:cNvCxnSpPr>
            <a:stCxn id="5" idx="3"/>
          </p:cNvCxnSpPr>
          <p:nvPr/>
        </p:nvCxnSpPr>
        <p:spPr>
          <a:xfrm flipV="1">
            <a:off x="8298815" y="2076450"/>
            <a:ext cx="1303655" cy="509270"/>
          </a:xfrm>
          <a:prstGeom prst="straightConnector1">
            <a:avLst/>
          </a:prstGeom>
          <a:ln w="31750" cap="rnd">
            <a:solidFill>
              <a:srgbClr val="FF0000"/>
            </a:solidFill>
            <a:prstDash val="sysDash"/>
            <a:round/>
            <a:tailEnd type="arrow" w="med" len="med"/>
          </a:ln>
        </p:spPr>
        <p:style>
          <a:lnRef idx="0">
            <a:srgbClr val="FFFFFF"/>
          </a:lnRef>
          <a:fillRef idx="0">
            <a:srgbClr val="FFFFFF"/>
          </a:fillRef>
          <a:effectRef idx="0">
            <a:srgbClr val="FFFFFF"/>
          </a:effectRef>
          <a:fontRef idx="minor">
            <a:schemeClr val="tx1"/>
          </a:fontRef>
        </p:style>
      </p:cxnSp>
      <p:sp>
        <p:nvSpPr>
          <p:cNvPr id="19" name="矩形 18"/>
          <p:cNvSpPr/>
          <p:nvPr/>
        </p:nvSpPr>
        <p:spPr>
          <a:xfrm>
            <a:off x="5438140" y="4321175"/>
            <a:ext cx="5438140" cy="271780"/>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20" name="直接箭头连接符 19"/>
          <p:cNvCxnSpPr/>
          <p:nvPr/>
        </p:nvCxnSpPr>
        <p:spPr>
          <a:xfrm flipH="1">
            <a:off x="8298815" y="4592955"/>
            <a:ext cx="424180" cy="281940"/>
          </a:xfrm>
          <a:prstGeom prst="straightConnector1">
            <a:avLst/>
          </a:prstGeom>
          <a:ln w="28575" cap="rnd">
            <a:solidFill>
              <a:srgbClr val="FF0000"/>
            </a:solidFill>
            <a:prstDash val="sysDash"/>
            <a:round/>
            <a:tailEnd type="arrow" w="med" len="med"/>
          </a:ln>
        </p:spPr>
        <p:style>
          <a:lnRef idx="0">
            <a:srgbClr val="FFFFFF"/>
          </a:lnRef>
          <a:fillRef idx="0">
            <a:srgbClr val="FFFFFF"/>
          </a:fillRef>
          <a:effectRef idx="0">
            <a:srgbClr val="FFFFFF"/>
          </a:effectRef>
          <a:fontRef idx="minor">
            <a:schemeClr val="tx1"/>
          </a:fontRef>
        </p:style>
      </p:cxnSp>
      <p:sp>
        <p:nvSpPr>
          <p:cNvPr id="21" name="文本框 20"/>
          <p:cNvSpPr txBox="1"/>
          <p:nvPr/>
        </p:nvSpPr>
        <p:spPr>
          <a:xfrm>
            <a:off x="5290185" y="4874895"/>
            <a:ext cx="5793105" cy="1393825"/>
          </a:xfrm>
          <a:prstGeom prst="rect">
            <a:avLst/>
          </a:prstGeom>
          <a:noFill/>
          <a:ln w="19050">
            <a:solidFill>
              <a:srgbClr val="FF0000"/>
            </a:solidFill>
            <a:prstDash val="sysDash"/>
          </a:ln>
        </p:spPr>
        <p:txBody>
          <a:bodyPr wrap="square" rtlCol="0">
            <a:noAutofit/>
          </a:bodyPr>
          <a:p>
            <a:pPr algn="l">
              <a:buNone/>
            </a:pPr>
            <a:r>
              <a:rPr lang="zh-CN" altLang="en-US" sz="1400" dirty="0">
                <a:solidFill>
                  <a:schemeClr val="tx1"/>
                </a:solidFill>
                <a:latin typeface="微软雅黑" panose="020B0503020204020204" charset="-122"/>
                <a:ea typeface="微软雅黑" panose="020B0503020204020204" charset="-122"/>
                <a:sym typeface="+mn-ea"/>
              </a:rPr>
              <a:t>收费计价：单价</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数量</a:t>
            </a:r>
            <a:endParaRPr lang="zh-CN" altLang="en-US" sz="1400" b="0" dirty="0">
              <a:solidFill>
                <a:schemeClr val="tx1"/>
              </a:solidFill>
              <a:latin typeface="微软雅黑" panose="020B0503020204020204" charset="-122"/>
              <a:ea typeface="微软雅黑" panose="020B0503020204020204" charset="-122"/>
            </a:endParaRPr>
          </a:p>
          <a:p>
            <a:pPr algn="l">
              <a:buNone/>
            </a:pPr>
            <a:r>
              <a:rPr lang="zh-CN" altLang="en-US" sz="1400" dirty="0">
                <a:solidFill>
                  <a:schemeClr val="tx1"/>
                </a:solidFill>
                <a:latin typeface="微软雅黑" panose="020B0503020204020204" charset="-122"/>
                <a:ea typeface="微软雅黑" panose="020B0503020204020204" charset="-122"/>
                <a:sym typeface="+mn-ea"/>
              </a:rPr>
              <a:t>收费计价方式：单价</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数量</a:t>
            </a:r>
            <a:r>
              <a:rPr lang="en-US" altLang="zh-CN" sz="1400" dirty="0">
                <a:solidFill>
                  <a:schemeClr val="tx1"/>
                </a:solidFill>
                <a:latin typeface="微软雅黑" panose="020B0503020204020204" charset="-122"/>
                <a:ea typeface="微软雅黑" panose="020B0503020204020204" charset="-122"/>
                <a:sym typeface="+mn-ea"/>
              </a:rPr>
              <a:t>=(N-1)*0.5+1</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b="0" dirty="0">
              <a:solidFill>
                <a:schemeClr val="tx1"/>
              </a:solidFill>
              <a:latin typeface="微软雅黑" panose="020B0503020204020204" charset="-122"/>
              <a:ea typeface="微软雅黑" panose="020B0503020204020204" charset="-122"/>
            </a:endParaRPr>
          </a:p>
          <a:p>
            <a:pPr algn="l">
              <a:buNone/>
            </a:pPr>
            <a:r>
              <a:rPr lang="zh-CN" altLang="en-US" sz="1400" dirty="0">
                <a:solidFill>
                  <a:schemeClr val="tx1"/>
                </a:solidFill>
                <a:latin typeface="微软雅黑" panose="020B0503020204020204" charset="-122"/>
                <a:ea typeface="微软雅黑" panose="020B0503020204020204" charset="-122"/>
                <a:sym typeface="+mn-ea"/>
              </a:rPr>
              <a:t>收费计价方式：单价</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实际治疗数量</a:t>
            </a:r>
            <a:endParaRPr lang="zh-CN" altLang="en-US" sz="1400" b="0" dirty="0">
              <a:solidFill>
                <a:schemeClr val="tx1"/>
              </a:solidFill>
              <a:latin typeface="微软雅黑" panose="020B0503020204020204" charset="-122"/>
              <a:ea typeface="微软雅黑" panose="020B0503020204020204" charset="-122"/>
            </a:endParaRPr>
          </a:p>
          <a:p>
            <a:pPr algn="l">
              <a:buNone/>
            </a:pPr>
            <a:r>
              <a:rPr lang="zh-CN" altLang="en-US" sz="1400" dirty="0">
                <a:solidFill>
                  <a:schemeClr val="tx1"/>
                </a:solidFill>
                <a:latin typeface="微软雅黑" panose="020B0503020204020204" charset="-122"/>
                <a:ea typeface="微软雅黑" panose="020B0503020204020204" charset="-122"/>
                <a:sym typeface="+mn-ea"/>
              </a:rPr>
              <a:t>收费计价方式：</a:t>
            </a:r>
            <a:r>
              <a:rPr lang="en-US" altLang="zh-CN" sz="1400" dirty="0">
                <a:solidFill>
                  <a:schemeClr val="tx1"/>
                </a:solidFill>
                <a:latin typeface="微软雅黑" panose="020B0503020204020204" charset="-122"/>
                <a:ea typeface="微软雅黑" panose="020B0503020204020204" charset="-122"/>
                <a:sym typeface="+mn-ea"/>
              </a:rPr>
              <a:t>2000*[</a:t>
            </a:r>
            <a:r>
              <a:rPr lang="zh-CN" altLang="en-US" sz="1400" dirty="0">
                <a:solidFill>
                  <a:schemeClr val="tx1"/>
                </a:solidFill>
                <a:latin typeface="微软雅黑" panose="020B0503020204020204" charset="-122"/>
                <a:ea typeface="微软雅黑" panose="020B0503020204020204" charset="-122"/>
                <a:sym typeface="+mn-ea"/>
              </a:rPr>
              <a:t>实际治疗数量</a:t>
            </a:r>
            <a:r>
              <a:rPr lang="en-US" altLang="zh-CN" sz="1400" dirty="0">
                <a:solidFill>
                  <a:schemeClr val="tx1"/>
                </a:solidFill>
                <a:latin typeface="微软雅黑" panose="020B0503020204020204" charset="-122"/>
                <a:ea typeface="微软雅黑" panose="020B0503020204020204" charset="-122"/>
                <a:sym typeface="+mn-ea"/>
              </a:rPr>
              <a:t>=(N-1)*0.7+1]</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b="0" dirty="0">
              <a:solidFill>
                <a:schemeClr val="tx1"/>
              </a:solidFill>
              <a:latin typeface="微软雅黑" panose="020B0503020204020204" charset="-122"/>
              <a:ea typeface="微软雅黑" panose="020B0503020204020204" charset="-122"/>
            </a:endParaRPr>
          </a:p>
          <a:p>
            <a:pPr algn="l">
              <a:buNone/>
            </a:pPr>
            <a:r>
              <a:rPr lang="zh-CN" altLang="en-US" sz="1400" dirty="0">
                <a:solidFill>
                  <a:schemeClr val="tx1"/>
                </a:solidFill>
                <a:latin typeface="微软雅黑" panose="020B0503020204020204" charset="-122"/>
                <a:ea typeface="微软雅黑" panose="020B0503020204020204" charset="-122"/>
                <a:sym typeface="+mn-ea"/>
              </a:rPr>
              <a:t>收费计价方式：单价</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实际治疗数量（不超过</a:t>
            </a:r>
            <a:r>
              <a:rPr lang="en-US" altLang="zh-CN" sz="1400" dirty="0">
                <a:solidFill>
                  <a:schemeClr val="tx1"/>
                </a:solidFill>
                <a:latin typeface="微软雅黑" panose="020B0503020204020204" charset="-122"/>
                <a:ea typeface="微软雅黑" panose="020B0503020204020204" charset="-122"/>
                <a:sym typeface="+mn-ea"/>
              </a:rPr>
              <a:t>13.3</a:t>
            </a:r>
            <a:r>
              <a:rPr lang="zh-CN" altLang="en-US" sz="1400" dirty="0">
                <a:solidFill>
                  <a:schemeClr val="tx1"/>
                </a:solidFill>
                <a:latin typeface="微软雅黑" panose="020B0503020204020204" charset="-122"/>
                <a:ea typeface="微软雅黑" panose="020B0503020204020204" charset="-122"/>
                <a:sym typeface="+mn-ea"/>
              </a:rPr>
              <a:t>）</a:t>
            </a:r>
            <a:r>
              <a:rPr lang="en-US" altLang="zh-CN" sz="1400" dirty="0">
                <a:solidFill>
                  <a:schemeClr val="tx1"/>
                </a:solidFill>
                <a:latin typeface="微软雅黑" panose="020B0503020204020204" charset="-122"/>
                <a:ea typeface="微软雅黑" panose="020B0503020204020204" charset="-122"/>
                <a:sym typeface="+mn-ea"/>
              </a:rPr>
              <a:t>=(N-1)*0.5+1]</a:t>
            </a:r>
            <a:endParaRPr lang="en-US" altLang="zh-CN" sz="1400" b="0" dirty="0">
              <a:solidFill>
                <a:schemeClr val="tx1"/>
              </a:solidFill>
              <a:latin typeface="微软雅黑" panose="020B0503020204020204" charset="-122"/>
              <a:ea typeface="微软雅黑" panose="020B0503020204020204" charset="-122"/>
            </a:endParaRPr>
          </a:p>
          <a:p>
            <a:pPr algn="l">
              <a:buNone/>
            </a:pPr>
            <a:r>
              <a:rPr lang="zh-CN" altLang="en-US" sz="1400" dirty="0">
                <a:solidFill>
                  <a:schemeClr val="tx1"/>
                </a:solidFill>
                <a:latin typeface="微软雅黑" panose="020B0503020204020204" charset="-122"/>
                <a:ea typeface="微软雅黑" panose="020B0503020204020204" charset="-122"/>
                <a:sym typeface="+mn-ea"/>
              </a:rPr>
              <a:t>收费计价方式：单价</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数量</a:t>
            </a:r>
            <a:r>
              <a:rPr lang="en-US" altLang="zh-CN" sz="1400" dirty="0">
                <a:solidFill>
                  <a:schemeClr val="tx1"/>
                </a:solidFill>
                <a:latin typeface="微软雅黑" panose="020B0503020204020204" charset="-122"/>
                <a:ea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sym typeface="+mn-ea"/>
              </a:rPr>
              <a:t>基础价（</a:t>
            </a:r>
            <a:r>
              <a:rPr lang="en-US" altLang="zh-CN" sz="1400" dirty="0">
                <a:solidFill>
                  <a:schemeClr val="tx1"/>
                </a:solidFill>
                <a:latin typeface="微软雅黑" panose="020B0503020204020204" charset="-122"/>
                <a:ea typeface="微软雅黑" panose="020B0503020204020204" charset="-122"/>
                <a:sym typeface="+mn-ea"/>
              </a:rPr>
              <a:t>55</a:t>
            </a:r>
            <a:r>
              <a:rPr lang="zh-CN" altLang="en-US" sz="1400" dirty="0">
                <a:solidFill>
                  <a:schemeClr val="tx1"/>
                </a:solidFill>
                <a:latin typeface="微软雅黑" panose="020B0503020204020204" charset="-122"/>
                <a:ea typeface="微软雅黑" panose="020B0503020204020204" charset="-122"/>
                <a:sym typeface="+mn-ea"/>
              </a:rPr>
              <a:t>）</a:t>
            </a:r>
            <a:endParaRPr lang="zh-CN" altLang="en-US" sz="1400" b="0" dirty="0">
              <a:solidFill>
                <a:schemeClr val="tx1"/>
              </a:solidFill>
              <a:latin typeface="微软雅黑" panose="020B0503020204020204" charset="-122"/>
              <a:ea typeface="微软雅黑" panose="020B0503020204020204" charset="-122"/>
            </a:endParaRPr>
          </a:p>
          <a:p>
            <a:endParaRPr lang="zh-CN" altLang="en-US" sz="1400" b="0" dirty="0">
              <a:solidFill>
                <a:schemeClr val="tx1"/>
              </a:solidFill>
              <a:latin typeface="微软雅黑" panose="020B0503020204020204" charset="-122"/>
              <a:ea typeface="微软雅黑" panose="020B0503020204020204" charset="-122"/>
              <a:cs typeface="黑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流程图: 手动输入 1"/>
          <p:cNvSpPr/>
          <p:nvPr/>
        </p:nvSpPr>
        <p:spPr>
          <a:xfrm rot="5400000">
            <a:off x="461963" y="39688"/>
            <a:ext cx="595312" cy="1524000"/>
          </a:xfrm>
          <a:prstGeom prst="flowChartManualInput">
            <a:avLst/>
          </a:prstGeom>
          <a:solidFill>
            <a:srgbClr val="C00000"/>
          </a:solidFill>
          <a:ln w="12700">
            <a:noFill/>
          </a:ln>
        </p:spPr>
        <p:txBody>
          <a:bodyPr anchor="ctr"/>
          <a:lstStyle/>
          <a:p>
            <a:pPr indent="0" algn="ctr"/>
            <a:endParaRPr lang="zh-CN" altLang="zh-CN">
              <a:solidFill>
                <a:srgbClr val="FFFFFF"/>
              </a:solidFill>
              <a:latin typeface="Arial" panose="020B0604020202020204" pitchFamily="34" charset="0"/>
              <a:ea typeface="宋体" panose="02010600030101010101" pitchFamily="2" charset="-122"/>
            </a:endParaRPr>
          </a:p>
        </p:txBody>
      </p:sp>
      <p:sp>
        <p:nvSpPr>
          <p:cNvPr id="1048657" name="TextBox 17"/>
          <p:cNvSpPr/>
          <p:nvPr/>
        </p:nvSpPr>
        <p:spPr>
          <a:xfrm>
            <a:off x="1376998" y="387985"/>
            <a:ext cx="4482465" cy="711200"/>
          </a:xfrm>
          <a:prstGeom prst="rect">
            <a:avLst/>
          </a:prstGeom>
          <a:noFill/>
          <a:ln w="9525">
            <a:noFill/>
          </a:ln>
        </p:spPr>
        <p:txBody>
          <a:bodyPr wrap="none" lIns="121917" tIns="60958" rIns="121917" bIns="60958" anchor="t">
            <a:spAutoFit/>
          </a:bodyPr>
          <a:lstStyle/>
          <a:p>
            <a:pPr>
              <a:lnSpc>
                <a:spcPct val="120000"/>
              </a:lnSpc>
            </a:pPr>
            <a:r>
              <a:rPr lang="zh-CN" sz="3200" dirty="0" smtClean="0">
                <a:solidFill>
                  <a:schemeClr val="dk1"/>
                </a:solidFill>
                <a:latin typeface="微软雅黑" panose="020B0503020204020204" charset="-122"/>
                <a:ea typeface="微软雅黑" panose="020B0503020204020204" charset="-122"/>
              </a:rPr>
              <a:t>手术批费界面改造</a:t>
            </a:r>
            <a:r>
              <a:rPr lang="en-US" altLang="zh-CN" sz="3200" dirty="0" smtClean="0">
                <a:solidFill>
                  <a:schemeClr val="dk1"/>
                </a:solidFill>
                <a:latin typeface="微软雅黑" panose="020B0503020204020204" charset="-122"/>
                <a:ea typeface="微软雅黑" panose="020B0503020204020204" charset="-122"/>
              </a:rPr>
              <a:t>-</a:t>
            </a:r>
            <a:r>
              <a:rPr lang="zh-CN" altLang="en-US" sz="3200" dirty="0" smtClean="0">
                <a:solidFill>
                  <a:schemeClr val="dk1"/>
                </a:solidFill>
                <a:latin typeface="微软雅黑" panose="020B0503020204020204" charset="-122"/>
                <a:ea typeface="微软雅黑" panose="020B0503020204020204" charset="-122"/>
              </a:rPr>
              <a:t>加收</a:t>
            </a:r>
            <a:endParaRPr lang="zh-CN" altLang="en-US" sz="3200" dirty="0" smtClean="0">
              <a:solidFill>
                <a:schemeClr val="dk1"/>
              </a:solidFill>
              <a:latin typeface="微软雅黑" panose="020B0503020204020204" charset="-122"/>
              <a:ea typeface="微软雅黑" panose="020B0503020204020204" charset="-122"/>
            </a:endParaRPr>
          </a:p>
        </p:txBody>
      </p:sp>
      <p:sp>
        <p:nvSpPr>
          <p:cNvPr id="3" name="文本框 2"/>
          <p:cNvSpPr txBox="1"/>
          <p:nvPr/>
        </p:nvSpPr>
        <p:spPr>
          <a:xfrm>
            <a:off x="436245" y="1128395"/>
            <a:ext cx="9029065" cy="922020"/>
          </a:xfrm>
          <a:prstGeom prst="rect">
            <a:avLst/>
          </a:prstGeom>
          <a:noFill/>
        </p:spPr>
        <p:txBody>
          <a:bodyPr wrap="square" rtlCol="0">
            <a:spAutoFit/>
          </a:bodyPr>
          <a:p>
            <a:r>
              <a:rPr lang="en-US" altLang="zh-CN">
                <a:latin typeface="黑体" panose="02010609060101010101" charset="-122"/>
                <a:ea typeface="黑体" panose="02010609060101010101" charset="-122"/>
                <a:cs typeface="黑体" panose="02010609060101010101" charset="-122"/>
              </a:rPr>
              <a:t>1</a:t>
            </a:r>
            <a:r>
              <a:rPr lang="zh-CN" altLang="en-US">
                <a:latin typeface="黑体" panose="02010609060101010101" charset="-122"/>
                <a:ea typeface="黑体" panose="02010609060101010101" charset="-122"/>
                <a:cs typeface="黑体" panose="02010609060101010101" charset="-122"/>
              </a:rPr>
              <a:t>、手术批费时，调用加收规则接口，自动带出该项目的加收子项目。</a:t>
            </a:r>
            <a:endParaRPr lang="zh-CN" altLang="en-US">
              <a:latin typeface="黑体" panose="02010609060101010101" charset="-122"/>
              <a:ea typeface="黑体" panose="02010609060101010101" charset="-122"/>
              <a:cs typeface="黑体" panose="02010609060101010101" charset="-122"/>
            </a:endParaRPr>
          </a:p>
          <a:p>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2</a:t>
            </a:r>
            <a:r>
              <a:rPr lang="zh-CN" altLang="en-US">
                <a:latin typeface="黑体" panose="02010609060101010101" charset="-122"/>
                <a:ea typeface="黑体" panose="02010609060101010101" charset="-122"/>
                <a:cs typeface="黑体" panose="02010609060101010101" charset="-122"/>
              </a:rPr>
              <a:t>、满足儿童加收条件的子项目，默认自动勾选；</a:t>
            </a:r>
            <a:endParaRPr lang="zh-CN" altLang="en-US">
              <a:latin typeface="黑体" panose="02010609060101010101" charset="-122"/>
              <a:ea typeface="黑体" panose="02010609060101010101" charset="-122"/>
              <a:cs typeface="黑体" panose="02010609060101010101" charset="-122"/>
            </a:endParaRPr>
          </a:p>
        </p:txBody>
      </p:sp>
      <p:pic>
        <p:nvPicPr>
          <p:cNvPr id="4" name="图片 3"/>
          <p:cNvPicPr>
            <a:picLocks noChangeAspect="1"/>
          </p:cNvPicPr>
          <p:nvPr/>
        </p:nvPicPr>
        <p:blipFill>
          <a:blip r:embed="rId1"/>
          <a:stretch>
            <a:fillRect/>
          </a:stretch>
        </p:blipFill>
        <p:spPr>
          <a:xfrm>
            <a:off x="694055" y="2018030"/>
            <a:ext cx="10003155" cy="4839970"/>
          </a:xfrm>
          <a:prstGeom prst="rect">
            <a:avLst/>
          </a:prstGeom>
        </p:spPr>
      </p:pic>
      <p:sp>
        <p:nvSpPr>
          <p:cNvPr id="5" name="矩形 4"/>
          <p:cNvSpPr/>
          <p:nvPr/>
        </p:nvSpPr>
        <p:spPr>
          <a:xfrm>
            <a:off x="2280285" y="3429000"/>
            <a:ext cx="521335" cy="727710"/>
          </a:xfrm>
          <a:prstGeom prst="rect">
            <a:avLst/>
          </a:prstGeom>
          <a:ln w="19050">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流程图: 手动输入 1"/>
          <p:cNvSpPr/>
          <p:nvPr/>
        </p:nvSpPr>
        <p:spPr>
          <a:xfrm rot="5400000">
            <a:off x="461963" y="39688"/>
            <a:ext cx="595312" cy="1524000"/>
          </a:xfrm>
          <a:prstGeom prst="flowChartManualInput">
            <a:avLst/>
          </a:prstGeom>
          <a:solidFill>
            <a:srgbClr val="C00000"/>
          </a:solidFill>
          <a:ln w="12700">
            <a:noFill/>
          </a:ln>
        </p:spPr>
        <p:txBody>
          <a:bodyPr anchor="ctr"/>
          <a:lstStyle/>
          <a:p>
            <a:pPr indent="0" algn="ctr"/>
            <a:endParaRPr lang="zh-CN" altLang="zh-CN">
              <a:solidFill>
                <a:srgbClr val="FFFFFF"/>
              </a:solidFill>
              <a:latin typeface="Arial" panose="020B0604020202020204" pitchFamily="34" charset="0"/>
              <a:ea typeface="宋体" panose="02010600030101010101" pitchFamily="2" charset="-122"/>
            </a:endParaRPr>
          </a:p>
        </p:txBody>
      </p:sp>
      <p:sp>
        <p:nvSpPr>
          <p:cNvPr id="1048657" name="TextBox 17"/>
          <p:cNvSpPr/>
          <p:nvPr/>
        </p:nvSpPr>
        <p:spPr>
          <a:xfrm>
            <a:off x="1376998" y="387985"/>
            <a:ext cx="6576695" cy="711200"/>
          </a:xfrm>
          <a:prstGeom prst="rect">
            <a:avLst/>
          </a:prstGeom>
          <a:noFill/>
          <a:ln w="9525">
            <a:noFill/>
          </a:ln>
        </p:spPr>
        <p:txBody>
          <a:bodyPr wrap="none" lIns="121917" tIns="60958" rIns="121917" bIns="60958" anchor="t">
            <a:spAutoFit/>
          </a:bodyPr>
          <a:lstStyle/>
          <a:p>
            <a:pPr>
              <a:lnSpc>
                <a:spcPct val="120000"/>
              </a:lnSpc>
            </a:pPr>
            <a:r>
              <a:rPr lang="zh-CN" sz="3200" dirty="0" smtClean="0">
                <a:solidFill>
                  <a:schemeClr val="dk1"/>
                </a:solidFill>
                <a:latin typeface="微软雅黑" panose="020B0503020204020204" charset="-122"/>
                <a:ea typeface="微软雅黑" panose="020B0503020204020204" charset="-122"/>
              </a:rPr>
              <a:t>手术批费（补缴费）界面</a:t>
            </a:r>
            <a:r>
              <a:rPr lang="zh-CN" altLang="en-US" sz="3200" dirty="0" smtClean="0">
                <a:solidFill>
                  <a:schemeClr val="dk1"/>
                </a:solidFill>
                <a:latin typeface="微软雅黑" panose="020B0503020204020204" charset="-122"/>
                <a:ea typeface="微软雅黑" panose="020B0503020204020204" charset="-122"/>
              </a:rPr>
              <a:t>计价改造</a:t>
            </a:r>
            <a:r>
              <a:rPr lang="en-US" altLang="zh-CN" sz="3200" dirty="0" smtClean="0">
                <a:solidFill>
                  <a:schemeClr val="dk1"/>
                </a:solidFill>
                <a:latin typeface="微软雅黑" panose="020B0503020204020204" charset="-122"/>
                <a:ea typeface="微软雅黑" panose="020B0503020204020204" charset="-122"/>
              </a:rPr>
              <a:t>1</a:t>
            </a:r>
            <a:endParaRPr lang="en-US" altLang="zh-CN" sz="3200" dirty="0" smtClean="0">
              <a:solidFill>
                <a:schemeClr val="dk1"/>
              </a:solidFill>
              <a:latin typeface="微软雅黑" panose="020B0503020204020204" charset="-122"/>
              <a:ea typeface="微软雅黑" panose="020B0503020204020204" charset="-122"/>
            </a:endParaRPr>
          </a:p>
        </p:txBody>
      </p:sp>
      <p:sp>
        <p:nvSpPr>
          <p:cNvPr id="3" name="文本框 2"/>
          <p:cNvSpPr txBox="1"/>
          <p:nvPr/>
        </p:nvSpPr>
        <p:spPr>
          <a:xfrm>
            <a:off x="436245" y="1128395"/>
            <a:ext cx="9029065" cy="1198880"/>
          </a:xfrm>
          <a:prstGeom prst="rect">
            <a:avLst/>
          </a:prstGeom>
          <a:noFill/>
        </p:spPr>
        <p:txBody>
          <a:bodyPr wrap="square" rtlCol="0">
            <a:spAutoFit/>
          </a:bodyPr>
          <a:p>
            <a:r>
              <a:rPr lang="en-US" altLang="zh-CN">
                <a:latin typeface="黑体" panose="02010609060101010101" charset="-122"/>
                <a:ea typeface="黑体" panose="02010609060101010101" charset="-122"/>
                <a:cs typeface="黑体" panose="02010609060101010101" charset="-122"/>
              </a:rPr>
              <a:t>1</a:t>
            </a:r>
            <a:r>
              <a:rPr lang="zh-CN" altLang="en-US">
                <a:latin typeface="黑体" panose="02010609060101010101" charset="-122"/>
                <a:ea typeface="黑体" panose="02010609060101010101" charset="-122"/>
                <a:cs typeface="黑体" panose="02010609060101010101" charset="-122"/>
              </a:rPr>
              <a:t>、手术批费（补缴费）时，输入完成项目后，回车</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点击数量栏，系统判断该项目是否为</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特殊项目</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标识</a:t>
            </a:r>
            <a:r>
              <a:rPr lang="zh-CN" altLang="en-US">
                <a:latin typeface="黑体" panose="02010609060101010101" charset="-122"/>
                <a:ea typeface="黑体" panose="02010609060101010101" charset="-122"/>
                <a:cs typeface="黑体" panose="02010609060101010101" charset="-122"/>
              </a:rPr>
              <a:t>，如是，则弹出计费输入框：</a:t>
            </a:r>
            <a:endParaRPr lang="zh-CN" altLang="en-US">
              <a:latin typeface="黑体" panose="02010609060101010101" charset="-122"/>
              <a:ea typeface="黑体" panose="02010609060101010101" charset="-122"/>
              <a:cs typeface="黑体" panose="02010609060101010101" charset="-122"/>
            </a:endParaRPr>
          </a:p>
          <a:p>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2</a:t>
            </a:r>
            <a:r>
              <a:rPr lang="zh-CN" altLang="en-US">
                <a:latin typeface="黑体" panose="02010609060101010101" charset="-122"/>
                <a:ea typeface="黑体" panose="02010609060101010101" charset="-122"/>
                <a:cs typeface="黑体" panose="02010609060101010101" charset="-122"/>
              </a:rPr>
              <a:t>、根据患者手术的部位，输入计价数量，系统按照计价参数，计算收费数量和金额；</a:t>
            </a:r>
            <a:endParaRPr lang="zh-CN" altLang="en-US">
              <a:latin typeface="黑体" panose="02010609060101010101" charset="-122"/>
              <a:ea typeface="黑体" panose="02010609060101010101" charset="-122"/>
              <a:cs typeface="黑体" panose="02010609060101010101" charset="-122"/>
            </a:endParaRPr>
          </a:p>
        </p:txBody>
      </p:sp>
      <p:pic>
        <p:nvPicPr>
          <p:cNvPr id="2" name="图片 1"/>
          <p:cNvPicPr>
            <a:picLocks noChangeAspect="1"/>
          </p:cNvPicPr>
          <p:nvPr/>
        </p:nvPicPr>
        <p:blipFill>
          <a:blip r:embed="rId1"/>
          <a:stretch>
            <a:fillRect/>
          </a:stretch>
        </p:blipFill>
        <p:spPr>
          <a:xfrm>
            <a:off x="1311910" y="2228215"/>
            <a:ext cx="7934325" cy="4546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4" descr="987700e6e47d48b377841ff930bdd9c8"/>
          <p:cNvPicPr>
            <a:picLocks noChangeAspect="1"/>
          </p:cNvPicPr>
          <p:nvPr/>
        </p:nvPicPr>
        <p:blipFill>
          <a:blip r:embed="rId1"/>
          <a:stretch>
            <a:fillRect/>
          </a:stretch>
        </p:blipFill>
        <p:spPr>
          <a:xfrm>
            <a:off x="65405" y="2121535"/>
            <a:ext cx="8529955" cy="4029075"/>
          </a:xfrm>
          <a:prstGeom prst="rect">
            <a:avLst/>
          </a:prstGeom>
        </p:spPr>
      </p:pic>
      <p:sp>
        <p:nvSpPr>
          <p:cNvPr id="1048656" name="流程图: 手动输入 1"/>
          <p:cNvSpPr/>
          <p:nvPr/>
        </p:nvSpPr>
        <p:spPr>
          <a:xfrm rot="5400000">
            <a:off x="461963" y="39688"/>
            <a:ext cx="595312" cy="1524000"/>
          </a:xfrm>
          <a:prstGeom prst="flowChartManualInput">
            <a:avLst/>
          </a:prstGeom>
          <a:solidFill>
            <a:srgbClr val="C00000"/>
          </a:solidFill>
          <a:ln w="12700">
            <a:noFill/>
          </a:ln>
        </p:spPr>
        <p:txBody>
          <a:bodyPr anchor="ctr"/>
          <a:lstStyle/>
          <a:p>
            <a:pPr indent="0" algn="ctr"/>
            <a:endParaRPr lang="zh-CN" altLang="zh-CN">
              <a:solidFill>
                <a:srgbClr val="FFFFFF"/>
              </a:solidFill>
              <a:latin typeface="Arial" panose="020B0604020202020204" pitchFamily="34" charset="0"/>
              <a:ea typeface="宋体" panose="02010600030101010101" pitchFamily="2" charset="-122"/>
            </a:endParaRPr>
          </a:p>
        </p:txBody>
      </p:sp>
      <p:sp>
        <p:nvSpPr>
          <p:cNvPr id="1048657" name="TextBox 17"/>
          <p:cNvSpPr/>
          <p:nvPr/>
        </p:nvSpPr>
        <p:spPr>
          <a:xfrm>
            <a:off x="1376998" y="387985"/>
            <a:ext cx="4076065" cy="711200"/>
          </a:xfrm>
          <a:prstGeom prst="rect">
            <a:avLst/>
          </a:prstGeom>
          <a:noFill/>
          <a:ln w="9525">
            <a:noFill/>
          </a:ln>
        </p:spPr>
        <p:txBody>
          <a:bodyPr wrap="none" lIns="121917" tIns="60958" rIns="121917" bIns="60958" anchor="t">
            <a:spAutoFit/>
          </a:bodyPr>
          <a:lstStyle/>
          <a:p>
            <a:pPr>
              <a:lnSpc>
                <a:spcPct val="120000"/>
              </a:lnSpc>
            </a:pPr>
            <a:r>
              <a:rPr lang="zh-CN" sz="3200" dirty="0" smtClean="0">
                <a:solidFill>
                  <a:schemeClr val="dk1"/>
                </a:solidFill>
                <a:latin typeface="微软雅黑" panose="020B0503020204020204" charset="-122"/>
                <a:ea typeface="微软雅黑" panose="020B0503020204020204" charset="-122"/>
              </a:rPr>
              <a:t>补缴费系统改造</a:t>
            </a:r>
            <a:r>
              <a:rPr lang="en-US" altLang="zh-CN" sz="3200" dirty="0" smtClean="0">
                <a:solidFill>
                  <a:schemeClr val="dk1"/>
                </a:solidFill>
                <a:latin typeface="微软雅黑" panose="020B0503020204020204" charset="-122"/>
                <a:ea typeface="微软雅黑" panose="020B0503020204020204" charset="-122"/>
              </a:rPr>
              <a:t>-</a:t>
            </a:r>
            <a:r>
              <a:rPr lang="zh-CN" altLang="en-US" sz="3200" dirty="0" smtClean="0">
                <a:solidFill>
                  <a:schemeClr val="dk1"/>
                </a:solidFill>
                <a:latin typeface="微软雅黑" panose="020B0503020204020204" charset="-122"/>
                <a:ea typeface="微软雅黑" panose="020B0503020204020204" charset="-122"/>
              </a:rPr>
              <a:t>加收</a:t>
            </a:r>
            <a:endParaRPr lang="zh-CN" altLang="en-US" sz="3200" dirty="0" smtClean="0">
              <a:solidFill>
                <a:schemeClr val="dk1"/>
              </a:solidFill>
              <a:latin typeface="微软雅黑" panose="020B0503020204020204" charset="-122"/>
              <a:ea typeface="微软雅黑" panose="020B0503020204020204" charset="-122"/>
            </a:endParaRPr>
          </a:p>
        </p:txBody>
      </p:sp>
      <p:sp>
        <p:nvSpPr>
          <p:cNvPr id="2" name="文本框 1"/>
          <p:cNvSpPr txBox="1"/>
          <p:nvPr/>
        </p:nvSpPr>
        <p:spPr>
          <a:xfrm>
            <a:off x="494665" y="1199515"/>
            <a:ext cx="7780020" cy="922020"/>
          </a:xfrm>
          <a:prstGeom prst="rect">
            <a:avLst/>
          </a:prstGeom>
          <a:noFill/>
        </p:spPr>
        <p:txBody>
          <a:bodyPr wrap="square" rtlCol="0" anchor="t">
            <a:spAutoFit/>
          </a:bodyPr>
          <a:p>
            <a:r>
              <a:rPr lang="en-US" altLang="zh-CN">
                <a:latin typeface="黑体" panose="02010609060101010101" charset="-122"/>
                <a:ea typeface="黑体" panose="02010609060101010101" charset="-122"/>
                <a:cs typeface="黑体" panose="02010609060101010101" charset="-122"/>
                <a:sym typeface="+mn-ea"/>
              </a:rPr>
              <a:t>1</a:t>
            </a:r>
            <a:r>
              <a:rPr lang="zh-CN" altLang="en-US">
                <a:latin typeface="黑体" panose="02010609060101010101" charset="-122"/>
                <a:ea typeface="黑体" panose="02010609060101010101" charset="-122"/>
                <a:cs typeface="黑体" panose="02010609060101010101" charset="-122"/>
                <a:sym typeface="+mn-ea"/>
              </a:rPr>
              <a:t>、补缴费时，调用加收规则接口，自动带出该项目的加收子项目。</a:t>
            </a:r>
            <a:endParaRPr lang="zh-CN" altLang="en-US">
              <a:latin typeface="黑体" panose="02010609060101010101" charset="-122"/>
              <a:ea typeface="黑体" panose="02010609060101010101" charset="-122"/>
              <a:cs typeface="黑体" panose="02010609060101010101" charset="-122"/>
            </a:endParaRPr>
          </a:p>
          <a:p>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sym typeface="+mn-ea"/>
              </a:rPr>
              <a:t>2</a:t>
            </a:r>
            <a:r>
              <a:rPr lang="zh-CN" altLang="en-US">
                <a:latin typeface="黑体" panose="02010609060101010101" charset="-122"/>
                <a:ea typeface="黑体" panose="02010609060101010101" charset="-122"/>
                <a:cs typeface="黑体" panose="02010609060101010101" charset="-122"/>
                <a:sym typeface="+mn-ea"/>
              </a:rPr>
              <a:t>、满足儿童加收条件的子项目，默认自动勾选</a:t>
            </a:r>
            <a:endParaRPr lang="zh-CN" altLang="en-US">
              <a:latin typeface="黑体" panose="02010609060101010101" charset="-122"/>
              <a:ea typeface="黑体" panose="02010609060101010101" charset="-122"/>
              <a:cs typeface="黑体" panose="02010609060101010101" charset="-122"/>
              <a:sym typeface="+mn-ea"/>
            </a:endParaRPr>
          </a:p>
        </p:txBody>
      </p:sp>
      <p:pic>
        <p:nvPicPr>
          <p:cNvPr id="16" name="图片 16" descr="0950b536d048b86a1e4998b942f36dee"/>
          <p:cNvPicPr>
            <a:picLocks noChangeAspect="1"/>
          </p:cNvPicPr>
          <p:nvPr/>
        </p:nvPicPr>
        <p:blipFill>
          <a:blip r:embed="rId2"/>
          <a:stretch>
            <a:fillRect/>
          </a:stretch>
        </p:blipFill>
        <p:spPr>
          <a:xfrm>
            <a:off x="5220970" y="3490595"/>
            <a:ext cx="6971030" cy="32823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99" name="图片 3"/>
          <p:cNvPicPr>
            <a:picLocks noChangeAspect="1"/>
          </p:cNvPicPr>
          <p:nvPr/>
        </p:nvPicPr>
        <p:blipFill rotWithShape="1">
          <a:blip r:embed="rId1" cstate="print"/>
          <a:srcRect t="7956" b="7428"/>
          <a:stretch>
            <a:fillRect/>
          </a:stretch>
        </p:blipFill>
        <p:spPr>
          <a:xfrm>
            <a:off x="0" y="1"/>
            <a:ext cx="12192000" cy="6879267"/>
          </a:xfrm>
          <a:prstGeom prst="rect">
            <a:avLst/>
          </a:prstGeom>
        </p:spPr>
      </p:pic>
      <p:sp>
        <p:nvSpPr>
          <p:cNvPr id="1048760" name="矩形 7"/>
          <p:cNvSpPr/>
          <p:nvPr/>
        </p:nvSpPr>
        <p:spPr>
          <a:xfrm>
            <a:off x="43543" y="28147"/>
            <a:ext cx="12192000" cy="6858000"/>
          </a:xfrm>
          <a:prstGeom prst="rect">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6" tIns="45718" rIns="91426" bIns="45718" rtlCol="0" anchor="ctr"/>
          <a:lstStyle/>
          <a:p>
            <a:pPr algn="ctr" defTabSz="913765"/>
            <a:endParaRPr lang="zh-CN" altLang="en-US">
              <a:solidFill>
                <a:prstClr val="white"/>
              </a:solidFill>
            </a:endParaRPr>
          </a:p>
        </p:txBody>
      </p:sp>
      <p:sp>
        <p:nvSpPr>
          <p:cNvPr id="1048761" name="矩形 9"/>
          <p:cNvSpPr/>
          <p:nvPr/>
        </p:nvSpPr>
        <p:spPr>
          <a:xfrm>
            <a:off x="0" y="-6880"/>
            <a:ext cx="12192000" cy="4058879"/>
          </a:xfrm>
          <a:prstGeom prst="rect">
            <a:avLst/>
          </a:prstGeom>
          <a:solidFill>
            <a:srgbClr val="DF213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6" tIns="45718" rIns="91426" bIns="45718" rtlCol="0" anchor="ctr"/>
          <a:lstStyle/>
          <a:p>
            <a:pPr algn="ctr" defTabSz="913765"/>
            <a:endParaRPr lang="zh-CN" altLang="en-US" sz="3500" dirty="0">
              <a:solidFill>
                <a:prstClr val="white"/>
              </a:solidFill>
              <a:latin typeface="微软雅黑" panose="020B0503020204020204" pitchFamily="82" charset="2"/>
              <a:ea typeface="微软雅黑" panose="020B0503020204020204" pitchFamily="82" charset="2"/>
            </a:endParaRPr>
          </a:p>
        </p:txBody>
      </p:sp>
      <p:sp>
        <p:nvSpPr>
          <p:cNvPr id="1048762" name="等腰三角形 2"/>
          <p:cNvSpPr/>
          <p:nvPr/>
        </p:nvSpPr>
        <p:spPr>
          <a:xfrm rot="10800000">
            <a:off x="5805061" y="4048245"/>
            <a:ext cx="560121" cy="190005"/>
          </a:xfrm>
          <a:prstGeom prst="triangle">
            <a:avLst/>
          </a:prstGeom>
          <a:solidFill>
            <a:srgbClr val="DF213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6" tIns="45718" rIns="91426" bIns="45718" rtlCol="0" anchor="ctr"/>
          <a:lstStyle/>
          <a:p>
            <a:pPr algn="ctr" defTabSz="913765"/>
            <a:endParaRPr lang="zh-CN" altLang="en-US">
              <a:solidFill>
                <a:prstClr val="white"/>
              </a:solidFill>
            </a:endParaRPr>
          </a:p>
        </p:txBody>
      </p:sp>
      <p:grpSp>
        <p:nvGrpSpPr>
          <p:cNvPr id="126" name="组合 10"/>
          <p:cNvGrpSpPr/>
          <p:nvPr/>
        </p:nvGrpSpPr>
        <p:grpSpPr>
          <a:xfrm>
            <a:off x="3645724" y="1942851"/>
            <a:ext cx="4987637" cy="1092247"/>
            <a:chOff x="3645724" y="1210657"/>
            <a:chExt cx="4987637" cy="1092247"/>
          </a:xfrm>
        </p:grpSpPr>
        <p:sp>
          <p:nvSpPr>
            <p:cNvPr id="1048763" name="矩形 1"/>
            <p:cNvSpPr/>
            <p:nvPr/>
          </p:nvSpPr>
          <p:spPr>
            <a:xfrm>
              <a:off x="3645724" y="1210657"/>
              <a:ext cx="4987637" cy="1092247"/>
            </a:xfrm>
            <a:prstGeom prst="rect">
              <a:avLst/>
            </a:prstGeom>
            <a:no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endParaRPr lang="zh-CN" altLang="en-US">
                <a:solidFill>
                  <a:prstClr val="white"/>
                </a:solidFill>
              </a:endParaRPr>
            </a:p>
          </p:txBody>
        </p:sp>
        <p:sp>
          <p:nvSpPr>
            <p:cNvPr id="1048764" name="文本框 5"/>
            <p:cNvSpPr txBox="1"/>
            <p:nvPr/>
          </p:nvSpPr>
          <p:spPr>
            <a:xfrm>
              <a:off x="3804716" y="1290366"/>
              <a:ext cx="4551680" cy="993140"/>
            </a:xfrm>
            <a:prstGeom prst="rect">
              <a:avLst/>
            </a:prstGeom>
            <a:noFill/>
          </p:spPr>
          <p:txBody>
            <a:bodyPr wrap="none" rtlCol="0">
              <a:spAutoFit/>
            </a:bodyPr>
            <a:lstStyle/>
            <a:p>
              <a:pPr defTabSz="913765"/>
              <a:r>
                <a:rPr lang="en-US" altLang="zh-CN" sz="6000" b="1" dirty="0">
                  <a:solidFill>
                    <a:prstClr val="white"/>
                  </a:solidFill>
                  <a:latin typeface="Arial Unicode MS" panose="020B0604020202020204" charset="-122"/>
                  <a:ea typeface="Arial Unicode MS" panose="020B0604020202020204" charset="-122"/>
                  <a:cs typeface="Arial Unicode MS" panose="020B0604020202020204" charset="-122"/>
                </a:rPr>
                <a:t>THANK YOU</a:t>
              </a:r>
              <a:endParaRPr lang="zh-CN" altLang="en-US" sz="6000" b="1" dirty="0">
                <a:solidFill>
                  <a:prstClr val="white"/>
                </a:solidFill>
                <a:latin typeface="Arial Unicode MS" panose="020B0604020202020204" charset="-122"/>
                <a:ea typeface="Arial Unicode MS" panose="020B0604020202020204" charset="-122"/>
                <a:cs typeface="Arial Unicode MS" panose="020B0604020202020204" charset="-122"/>
              </a:endParaRPr>
            </a:p>
          </p:txBody>
        </p:sp>
      </p:grpSp>
    </p:spTree>
  </p:cSld>
  <p:clrMapOvr>
    <a:masterClrMapping/>
  </p:clrMapOvr>
</p:sld>
</file>

<file path=ppt/tags/tag1.xml><?xml version="1.0" encoding="utf-8"?>
<p:tagLst xmlns:p="http://schemas.openxmlformats.org/presentationml/2006/main">
  <p:tag name="TABLE_ENDDRAG_ORIGIN_RECT" val="872*422"/>
  <p:tag name="TABLE_ENDDRAG_RECT" val="26*86*872*422"/>
</p:tagLst>
</file>

<file path=ppt/tags/tag2.xml><?xml version="1.0" encoding="utf-8"?>
<p:tagLst xmlns:p="http://schemas.openxmlformats.org/presentationml/2006/main">
  <p:tag name="KSO_WPP_MARK_KEY" val="b11b9f71-f015-4ba0-8a95-90716c0c73d4"/>
  <p:tag name="COMMONDATA" val="eyJoZGlkIjoiOTA0YTBkNDA5NzNhZTJkZTdkMDgzMWQyMTRlOWI3N2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4216</Words>
  <Application>WPS 演示</Application>
  <PresentationFormat>宽屏</PresentationFormat>
  <Paragraphs>617</Paragraphs>
  <Slides>12</Slides>
  <Notes>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12</vt:i4>
      </vt:variant>
    </vt:vector>
  </HeadingPairs>
  <TitlesOfParts>
    <vt:vector size="26" baseType="lpstr">
      <vt:lpstr>Arial</vt:lpstr>
      <vt:lpstr>宋体</vt:lpstr>
      <vt:lpstr>Wingdings</vt:lpstr>
      <vt:lpstr>微软雅黑</vt:lpstr>
      <vt:lpstr>Calibri</vt:lpstr>
      <vt:lpstr>微软雅黑</vt:lpstr>
      <vt:lpstr>黑体</vt:lpstr>
      <vt:lpstr>等线</vt:lpstr>
      <vt:lpstr>Arial Unicode MS</vt:lpstr>
      <vt:lpstr>Arial Unicode MS</vt:lpstr>
      <vt:lpstr>等线 Light</vt:lpstr>
      <vt:lpstr>Calibri</vt:lpstr>
      <vt:lpstr>Wonder 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Zoey</cp:lastModifiedBy>
  <cp:revision>169</cp:revision>
  <dcterms:created xsi:type="dcterms:W3CDTF">2022-11-22T10:31:00Z</dcterms:created>
  <dcterms:modified xsi:type="dcterms:W3CDTF">2025-12-08T03:04:01Z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17608D8D6BE0458085D099E492B2E617_13</vt:lpwstr>
  </property>
</Properties>
</file>